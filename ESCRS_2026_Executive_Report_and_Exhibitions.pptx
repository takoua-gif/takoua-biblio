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ESCRS 2026 CONGRESS EXECUTIVE REPORT &amp; FIELD INTELLIGENCE</a:t>
            </a:r>
          </a:p>
          <a:p>
            <a:pPr>
              <a:spcBef>
                <a:spcPts val="1000"/>
              </a:spcBef>
              <a:defRPr sz="3200" b="1">
                <a:solidFill>
                  <a:srgbClr val="F8FAFC"/>
                </a:solidFill>
              </a:defRPr>
            </a:pPr>
            <a:r>
              <a:t>Clinical Laser Innovation, Executive Pitching &amp; Strategic Exhibition Log</a:t>
            </a:r>
          </a:p>
          <a:p>
            <a:pPr>
              <a:spcBef>
                <a:spcPts val="1400"/>
              </a:spcBef>
              <a:defRPr sz="1600">
                <a:solidFill>
                  <a:srgbClr val="F59E0B"/>
                </a:solidFill>
              </a:defRPr>
            </a:pPr>
            <a:r>
              <a:t>Part 1: Laser Technology Benchmark | Part 2: High-Stakes Pitching Masterclass | Part 3: Exhibition Meeting Log</a:t>
            </a:r>
          </a:p>
          <a:p>
            <a:pPr>
              <a:spcBef>
                <a:spcPts val="2800"/>
              </a:spcBef>
              <a:defRPr sz="1200">
                <a:solidFill>
                  <a:srgbClr val="94A3B8"/>
                </a:solidFill>
              </a:defRPr>
            </a:pPr>
            <a:r>
              <a:t>Prepared for: Private Eye Clinic / Hospital Leadership &amp; Commercial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AGENDA &amp;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Briefing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[PART 1] </a:t>
            </a:r>
            <a:r>
              <a:rPr sz="1400" b="1">
                <a:solidFill>
                  <a:srgbClr val="F8FAFC"/>
                </a:solidFill>
              </a:rPr>
              <a:t>Part 1: Laser Benchmark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Scope: </a:t>
            </a:r>
            <a:r>
              <a:rPr>
                <a:solidFill>
                  <a:srgbClr val="94A3B8"/>
                </a:solidFill>
              </a:rPr>
              <a:t>Analysis of 33 clinical slides by Dr. Patrick Versace on corneal laser surgery.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Excimer Bottlenecks: </a:t>
            </a:r>
            <a:r>
              <a:rPr>
                <a:solidFill>
                  <a:srgbClr val="94A3B8"/>
                </a:solidFill>
              </a:rPr>
              <a:t>Physical limits, cosine effect, stromal hydration &amp; toxic ArF gas overhead.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KLEx Paradigm: </a:t>
            </a:r>
            <a:r>
              <a:rPr>
                <a:solidFill>
                  <a:srgbClr val="94A3B8"/>
                </a:solidFill>
              </a:rPr>
              <a:t>4-platform side-by-side shootout: Zeiss vs Schwind vs J&amp;J vs Ziemer.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Day-1 Clarity: </a:t>
            </a:r>
            <a:r>
              <a:rPr>
                <a:solidFill>
                  <a:srgbClr val="94A3B8"/>
                </a:solidFill>
              </a:rPr>
              <a:t>The biological formula balancing pulse energy, frequency &amp; cut pattern.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Commercial Impact: </a:t>
            </a:r>
            <a:r>
              <a:rPr>
                <a:solidFill>
                  <a:srgbClr val="94A3B8"/>
                </a:solidFill>
              </a:rPr>
              <a:t>Vendor procurement leverage, cash-pay margin expansion &amp; OPEX reduction.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[PART 2] </a:t>
            </a:r>
            <a:r>
              <a:rPr sz="1400" b="1">
                <a:solidFill>
                  <a:srgbClr val="F8FAFC"/>
                </a:solidFill>
              </a:rPr>
              <a:t>Part 2: Pitching Masterclass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Scope: </a:t>
            </a:r>
            <a:r>
              <a:rPr>
                <a:solidFill>
                  <a:srgbClr val="94A3B8"/>
                </a:solidFill>
              </a:rPr>
              <a:t>47 executive slides by Dr. Bostanci, Dr. Matsou, Dr. Lockington &amp; Dr. Eskina.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Emotion &amp; Conviction: </a:t>
            </a:r>
            <a:r>
              <a:rPr>
                <a:solidFill>
                  <a:srgbClr val="94A3B8"/>
                </a:solidFill>
              </a:rPr>
              <a:t>Why emotion creates memory: 'A presentation is what matters, not all you know.'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ABCDE Framework: </a:t>
            </a:r>
            <a:r>
              <a:rPr>
                <a:solidFill>
                  <a:srgbClr val="94A3B8"/>
                </a:solidFill>
              </a:rPr>
              <a:t>Accuracy, Brevity (6 slides max), Clarity, Delivery &amp; Enthusiasm.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Q&amp;A Defense Matrix: </a:t>
            </a:r>
            <a:r>
              <a:rPr>
                <a:solidFill>
                  <a:srgbClr val="94A3B8"/>
                </a:solidFill>
              </a:rPr>
              <a:t>Neutralizing show-offs, senior critics &amp; hostile questions.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Stage Presence: </a:t>
            </a:r>
            <a:r>
              <a:rPr>
                <a:solidFill>
                  <a:srgbClr val="94A3B8"/>
                </a:solidFill>
              </a:rPr>
              <a:t>The Power Triangle, anxiety reappraisal &amp; foreign language mastery.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[PART 3] </a:t>
            </a:r>
            <a:r>
              <a:rPr sz="1400" b="1">
                <a:solidFill>
                  <a:srgbClr val="F8FAFC"/>
                </a:solidFill>
              </a:rPr>
              <a:t>Part 3: Exhibition Log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Interactive Meeting Log: </a:t>
            </a:r>
            <a:r>
              <a:rPr>
                <a:solidFill>
                  <a:srgbClr val="94A3B8"/>
                </a:solidFill>
              </a:rPr>
              <a:t>Dedicated fillable slides for vendor meetings and booth interactions.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Priority Vendors: </a:t>
            </a:r>
            <a:r>
              <a:rPr>
                <a:solidFill>
                  <a:srgbClr val="94A3B8"/>
                </a:solidFill>
              </a:rPr>
              <a:t>Pre-configured slides for Alcon, Zeiss, Schwind, Ziemer, J&amp;J, Rayner &amp; Rexxam.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Open Meeting Templates: </a:t>
            </a:r>
            <a:r>
              <a:rPr>
                <a:solidFill>
                  <a:srgbClr val="94A3B8"/>
                </a:solidFill>
              </a:rPr>
              <a:t>Standardized forms capturing: Who Met, Contact Info, Products Discussed &amp; Action Items.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Commercial Follow-Up: </a:t>
            </a:r>
            <a:r>
              <a:rPr>
                <a:solidFill>
                  <a:srgbClr val="94A3B8"/>
                </a:solidFill>
              </a:rPr>
              <a:t>Bridging congress discussions directly into clinic procurement agreements.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SECTION 01</a:t>
            </a:r>
          </a:p>
          <a:p>
            <a:pPr>
              <a:spcBef>
                <a:spcPts val="1000"/>
              </a:spcBef>
              <a:defRPr sz="3400" b="1">
                <a:solidFill>
                  <a:srgbClr val="F8FAFC"/>
                </a:solidFill>
              </a:defRPr>
            </a:pPr>
            <a:r>
              <a:t>Takeaways from the Laser Benchmark Session</a:t>
            </a:r>
          </a:p>
          <a:p>
            <a:pPr>
              <a:spcBef>
                <a:spcPts val="1200"/>
              </a:spcBef>
              <a:defRPr sz="1600">
                <a:solidFill>
                  <a:srgbClr val="F59E0B"/>
                </a:solidFill>
              </a:defRPr>
            </a:pPr>
            <a:r>
              <a:t>GRS04: Technological Innovation in Refractive Surgery | Dr. Patrick Versace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1: LASER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Excimer Lasers: 30 Years of Track Record &amp; Modern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[PROVEN STRENGTHS] </a:t>
            </a:r>
            <a:r>
              <a:rPr sz="1400" b="1">
                <a:solidFill>
                  <a:srgbClr val="F8FAFC"/>
                </a:solidFill>
              </a:rPr>
              <a:t>The Track Record &amp; Clinical Performance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High Predictability: </a:t>
            </a:r>
            <a:r>
              <a:rPr>
                <a:solidFill>
                  <a:srgbClr val="94A3B8"/>
                </a:solidFill>
              </a:rPr>
              <a:t>92% to 98.7% within ±0.50 D across MEL 90, AMARIS 1050RS, B&amp;L Teneo, and Alcon EX500.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Ablation Precision: </a:t>
            </a:r>
            <a:r>
              <a:rPr>
                <a:solidFill>
                  <a:srgbClr val="94A3B8"/>
                </a:solidFill>
              </a:rPr>
              <a:t>Sub-micron surface photoablation accuracy established since 1985.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Presbyopic Capabilities: </a:t>
            </a:r>
            <a:r>
              <a:rPr>
                <a:solidFill>
                  <a:srgbClr val="94A3B8"/>
                </a:solidFill>
              </a:rPr>
              <a:t>PresbyMAX (Schwind), PRESBYOND (Zeiss), Read (Alcon), SUPRACOR (B&amp;L).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Mature Systems: </a:t>
            </a:r>
            <a:r>
              <a:rPr>
                <a:solidFill>
                  <a:srgbClr val="94A3B8"/>
                </a:solidFill>
              </a:rPr>
              <a:t>Proven safety data spanning over three decades of clinical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[LIMITATIONS] </a:t>
            </a:r>
            <a:r>
              <a:rPr sz="1400" b="1">
                <a:solidFill>
                  <a:srgbClr val="F8FAFC"/>
                </a:solidFill>
              </a:rPr>
              <a:t>Inherent Physics &amp; Operational Friction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Peripheral Loss of Efficiency: </a:t>
            </a:r>
            <a:r>
              <a:rPr>
                <a:solidFill>
                  <a:srgbClr val="94A3B8"/>
                </a:solidFill>
              </a:rPr>
              <a:t>Due to corneal curvature, non-normal incidence causes energy falloff (Arba-Mosquera &amp; de Ortueta 2008). Requires extra compensation pulses.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Hydration &amp; Thermal Variations: </a:t>
            </a:r>
            <a:r>
              <a:rPr>
                <a:solidFill>
                  <a:srgbClr val="94A3B8"/>
                </a:solidFill>
              </a:rPr>
              <a:t>Second-by-second changes in stromal bed hydration alter ablation depth. Thermal load causes keratocyte apoptosis.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Toxic Laser Gases: </a:t>
            </a:r>
            <a:r>
              <a:rPr>
                <a:solidFill>
                  <a:srgbClr val="94A3B8"/>
                </a:solidFill>
              </a:rPr>
              <a:t>Requires hazardous Argon Fluoride &amp; Xenon cylinders, specialized room exhaust, and heavy service contracts.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Solid-State Disruption: </a:t>
            </a:r>
            <a:r>
              <a:rPr>
                <a:solidFill>
                  <a:srgbClr val="94A3B8"/>
                </a:solidFill>
              </a:rPr>
              <a:t>Ziemer AQUARIUZ solid-state laser eliminates gas lines, delivering 97.7% within ±0.50 D in wet ablation.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1: LASER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KLEx Paradigm (Keratorefractive Lenticule Extraction)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[CLINICAL] </a:t>
            </a:r>
            <a:r>
              <a:rPr sz="1400" b="1">
                <a:solidFill>
                  <a:srgbClr val="F8FAFC"/>
                </a:solidFill>
              </a:rPr>
              <a:t>1. Clinical Superiority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Flapless Architecture: </a:t>
            </a:r>
            <a:r>
              <a:rPr>
                <a:solidFill>
                  <a:srgbClr val="94A3B8"/>
                </a:solidFill>
              </a:rPr>
              <a:t>No corneal flap created; removes risk of traumatic flap dislocation or striae.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Biomechanical Preservation: </a:t>
            </a:r>
            <a:r>
              <a:rPr>
                <a:solidFill>
                  <a:srgbClr val="94A3B8"/>
                </a:solidFill>
              </a:rPr>
              <a:t>Preserves the strong anterior 100-120 microns of corneal stroma.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Dry Eye Sparing: </a:t>
            </a:r>
            <a:r>
              <a:rPr>
                <a:solidFill>
                  <a:srgbClr val="94A3B8"/>
                </a:solidFill>
              </a:rPr>
              <a:t>Preserves corneal sub-basal nerve plexus; minimal post-op neurotrophic dry eye.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Patient Appeal: </a:t>
            </a:r>
            <a:r>
              <a:rPr>
                <a:solidFill>
                  <a:srgbClr val="94A3B8"/>
                </a:solidFill>
              </a:rPr>
              <a:t>Attracts contact lens intolerant patients, athletes, and military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[TECHNIQUE] </a:t>
            </a:r>
            <a:r>
              <a:rPr sz="1400" b="1">
                <a:solidFill>
                  <a:srgbClr val="F8FAFC"/>
                </a:solidFill>
              </a:rPr>
              <a:t>2. The Surgical Workflow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Laser Phase: </a:t>
            </a:r>
            <a:r>
              <a:rPr>
                <a:solidFill>
                  <a:srgbClr val="94A3B8"/>
                </a:solidFill>
              </a:rPr>
              <a:t>Femtosecond laser cuts the lower refractive plane, upper cap plane, and side-cut entry.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Manual Separation: </a:t>
            </a:r>
            <a:r>
              <a:rPr>
                <a:solidFill>
                  <a:srgbClr val="94A3B8"/>
                </a:solidFill>
              </a:rPr>
              <a:t>Surgeon passes a dissector to separate stromal bridges across both planes.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Extraction: </a:t>
            </a:r>
            <a:r>
              <a:rPr>
                <a:solidFill>
                  <a:srgbClr val="94A3B8"/>
                </a:solidFill>
              </a:rPr>
              <a:t>Forceps removal of the intact lenticule through a 2-3 mm micro-incision.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Key Insight: </a:t>
            </a:r>
            <a:r>
              <a:rPr>
                <a:solidFill>
                  <a:srgbClr val="94A3B8"/>
                </a:solidFill>
              </a:rPr>
              <a:t>'A faster laser does not automatically mean a faster total case.' Interface &amp; dissection dictate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[MARKET SHIFT] </a:t>
            </a:r>
            <a:r>
              <a:rPr sz="1400" b="1">
                <a:solidFill>
                  <a:srgbClr val="F8FAFC"/>
                </a:solidFill>
              </a:rPr>
              <a:t>3. Multi-Vendor Era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Monopoly Broken: </a:t>
            </a:r>
            <a:r>
              <a:rPr>
                <a:solidFill>
                  <a:srgbClr val="94A3B8"/>
                </a:solidFill>
              </a:rPr>
              <a:t>Zeiss SMILE was the sole platform for a decade. The market is now open and competitive.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4 CE-Marked Competitors: </a:t>
            </a:r>
            <a:r>
              <a:rPr>
                <a:solidFill>
                  <a:srgbClr val="94A3B8"/>
                </a:solidFill>
              </a:rPr>
              <a:t>Zeiss VisuMax 800, Schwind ATOS, J&amp;J ELITA, and Ziemer FEMTO Z8 NEO.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Technological Divergence: </a:t>
            </a:r>
            <a:r>
              <a:rPr>
                <a:solidFill>
                  <a:srgbClr val="94A3B8"/>
                </a:solidFill>
              </a:rPr>
              <a:t>Major differences in pulse energy (&lt;50 nJ to 170 nJ), cut time, and scan geometries.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Commercial Leverage: </a:t>
            </a:r>
            <a:r>
              <a:rPr>
                <a:solidFill>
                  <a:srgbClr val="94A3B8"/>
                </a:solidFill>
              </a:rPr>
              <a:t>High competition brings down capital costs and click-fee licensing.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1: LASER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Four-Way KLEx Platform Technical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B8A6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B8A6"/>
                          </a:solidFill>
                        </a:defRPr>
                      </a:pPr>
                      <a:r>
                        <a:t>Zeiss VisuMax 800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B8A6"/>
                          </a:solidFill>
                        </a:defRPr>
                      </a:pPr>
                      <a:r>
                        <a:t>Schwind ATOS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B8A6"/>
                          </a:solidFill>
                        </a:defRPr>
                      </a:pPr>
                      <a:r>
                        <a:t>J&amp;J Vision ELITA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B8A6"/>
                          </a:solidFill>
                        </a:defRPr>
                      </a:pPr>
                      <a:r>
                        <a:t>Ziemer FEMTO Z8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Regulatory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FDA (2024) / CE 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CE 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CE 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CE 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Laser Frequency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2 MHz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Up to 4 MHz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Up to 20 MHz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Pulse Energy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85 - 160 nJ (Typ. 125-170)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80 - 125 nJ (&lt;100 nJ)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40 - 50 nJ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&lt; 50 nJ (Sub-nanojoule)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Lenticule Cut Time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&lt; 10 seconds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~ 23 - 30 seconds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~ 16 seconds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41.5 - 50 seconds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Patient Interface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Curved liquid interface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Curved contact interface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Flat applanation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Flat low-vacuum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Scan Cut Pattern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Raster pattern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Spiral cut geometry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Radial cut pattern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Stippled + guiding tunnels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1: LASER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Biology of Recovery: The Formula for Day-1 Clarity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[BIOLOGICAL IMPACT] </a:t>
            </a:r>
            <a:r>
              <a:rPr sz="1400" b="1">
                <a:solidFill>
                  <a:srgbClr val="F8FAFC"/>
                </a:solidFill>
              </a:rPr>
              <a:t>The Physics vs Tissue Trade-off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Dissection Dilemma: </a:t>
            </a:r>
            <a:r>
              <a:rPr>
                <a:solidFill>
                  <a:srgbClr val="94A3B8"/>
                </a:solidFill>
              </a:rPr>
              <a:t>Higher pulse energy (&gt;130 nJ) creates large cavitation bubbles, making manual lenticule separation easy for the surgeon. But higher energy causes collateral damage.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Tissue Damage Mechanism: </a:t>
            </a:r>
            <a:r>
              <a:rPr>
                <a:solidFill>
                  <a:srgbClr val="94A3B8"/>
                </a:solidFill>
              </a:rPr>
              <a:t>High energy causes stromal keratocyte necrosis, acute wound healing response, and Opaque Bubble Layer (OBL).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'SMILE Fog': </a:t>
            </a:r>
            <a:r>
              <a:rPr>
                <a:solidFill>
                  <a:srgbClr val="94A3B8"/>
                </a:solidFill>
              </a:rPr>
              <a:t>Patients experience cloudy, hazy vision on Day 1, requiring 1-2 weeks to achieve crisp 20/20 clarity.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Sub-100 nJ Solution: </a:t>
            </a:r>
            <a:r>
              <a:rPr>
                <a:solidFill>
                  <a:srgbClr val="94A3B8"/>
                </a:solidFill>
              </a:rPr>
              <a:t>Platforms delivering &lt;100 nJ (ATOS, ELITA, Z8) eliminate gas bubble cavitation, resulting in minimal keratocyte activation.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[CLINICAL ADVANTAGE] </a:t>
            </a:r>
            <a:r>
              <a:rPr sz="1400" b="1">
                <a:solidFill>
                  <a:srgbClr val="F8FAFC"/>
                </a:solidFill>
              </a:rPr>
              <a:t>The Formula for Day-1 Clarity (Versace)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Equation: </a:t>
            </a:r>
            <a:r>
              <a:rPr>
                <a:solidFill>
                  <a:srgbClr val="94A3B8"/>
                </a:solidFill>
              </a:rPr>
              <a:t>(Low Pulse Energy + High Pulse Frequency) + (Overlapping Spot Spacing) + (Spiral Geometry) = Day-1 20/20 Clarity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Spiral vs Radial Geometry: </a:t>
            </a:r>
            <a:r>
              <a:rPr>
                <a:solidFill>
                  <a:srgbClr val="94A3B8"/>
                </a:solidFill>
              </a:rPr>
              <a:t>Radial scan (ELITA) delivers higher cumulative energy centrally over the visual axis. Spiral scan (ATOS) diffuses energy outward, sparing the visual center.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Tapered Lenticule Edge: </a:t>
            </a:r>
            <a:r>
              <a:rPr>
                <a:solidFill>
                  <a:srgbClr val="94A3B8"/>
                </a:solidFill>
              </a:rPr>
              <a:t>Schwind ATOS uses a tapered edge design rather than a blunt edge, minimizing stromal remodeling.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Commercial Value: </a:t>
            </a:r>
            <a:r>
              <a:rPr>
                <a:solidFill>
                  <a:srgbClr val="94A3B8"/>
                </a:solidFill>
              </a:rPr>
              <a:t>'Back to work tomorrow' is the single most compelling marketing claim in refractive surgery.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1: LASER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Strategic Business Development &amp; Financial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[REVENUE GENERATION] </a:t>
            </a:r>
            <a:r>
              <a:rPr sz="1400" b="1">
                <a:solidFill>
                  <a:srgbClr val="F8FAFC"/>
                </a:solidFill>
              </a:rPr>
              <a:t>1. Capital Procurement &amp; Cash-Pay Margins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Bargaining Leverage: </a:t>
            </a:r>
            <a:r>
              <a:rPr>
                <a:solidFill>
                  <a:srgbClr val="94A3B8"/>
                </a:solidFill>
              </a:rPr>
              <a:t>Zeiss VisuMax 800 no longer holds an uncontested monopoly. Use ATOS and Z8 NEO quotes to negotiate down capital purchase and click-fee costs.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Tiered Refractive Pricing: </a:t>
            </a:r>
            <a:r>
              <a:rPr>
                <a:solidFill>
                  <a:srgbClr val="94A3B8"/>
                </a:solidFill>
              </a:rPr>
              <a:t>Position KLEx as the premium flagship procedure (+30-40% price premium over standard LASIK/PRK).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Cash-Pay Self-Pay Model: </a:t>
            </a:r>
            <a:r>
              <a:rPr>
                <a:solidFill>
                  <a:srgbClr val="94A3B8"/>
                </a:solidFill>
              </a:rPr>
              <a:t>Zero insurance billing friction; immediate positive cash flow per completed case.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Volume Economics: </a:t>
            </a:r>
            <a:r>
              <a:rPr>
                <a:solidFill>
                  <a:srgbClr val="94A3B8"/>
                </a:solidFill>
              </a:rPr>
              <a:t>High surgical efficiency (&lt;10 min total room time) allows 15-20 cases per half-day laser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[OPERATIONAL MOAT] </a:t>
            </a:r>
            <a:r>
              <a:rPr sz="1400" b="1">
                <a:solidFill>
                  <a:srgbClr val="F8FAFC"/>
                </a:solidFill>
              </a:rPr>
              <a:t>2. Operational Efficiency &amp; OPEX Control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OPEX Reduction via Gas Elimination: </a:t>
            </a:r>
            <a:r>
              <a:rPr>
                <a:solidFill>
                  <a:srgbClr val="94A3B8"/>
                </a:solidFill>
              </a:rPr>
              <a:t>Solid-state (Ziemer) and all-femtosecond suites eliminate excimer toxic gas replenishments and complex exhaust lines (€15k-€25k annual savings).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Presbyopia Expansion: </a:t>
            </a:r>
            <a:r>
              <a:rPr>
                <a:solidFill>
                  <a:srgbClr val="94A3B8"/>
                </a:solidFill>
              </a:rPr>
              <a:t>PresbyMAX and PRESBYOND extend refractive surgery to the 45-60 age bracket (the most affluent demographic).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Surgeon Onboarding: </a:t>
            </a:r>
            <a:r>
              <a:rPr>
                <a:solidFill>
                  <a:srgbClr val="94A3B8"/>
                </a:solidFill>
              </a:rPr>
              <a:t>Choose systems with active cyclotorsion and centration (Centrax, CentraLign) to minimize surgeon learning curves and retreatment rates.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Differentiated Brand: </a:t>
            </a:r>
            <a:r>
              <a:rPr>
                <a:solidFill>
                  <a:srgbClr val="94A3B8"/>
                </a:solidFill>
              </a:rPr>
              <a:t>Position the clinic as a next-generation 'tissue-sparing, flapless laser center.'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SECTION 02</a:t>
            </a:r>
          </a:p>
          <a:p>
            <a:pPr>
              <a:spcBef>
                <a:spcPts val="1000"/>
              </a:spcBef>
              <a:defRPr sz="3400" b="1">
                <a:solidFill>
                  <a:srgbClr val="F8FAFC"/>
                </a:solidFill>
              </a:defRPr>
            </a:pPr>
            <a:r>
              <a:t>Executive Pitching, Presentation &amp; Influence Masterclass</a:t>
            </a:r>
          </a:p>
          <a:p>
            <a:pPr>
              <a:spcBef>
                <a:spcPts val="1200"/>
              </a:spcBef>
              <a:defRPr sz="1600">
                <a:solidFill>
                  <a:srgbClr val="F59E0B"/>
                </a:solidFill>
              </a:defRPr>
            </a:pPr>
            <a:r>
              <a:t>LBI &amp; BoSS Leadership Sessions | Dr. Bostanci, Dr. Matsou, Dr. Lockington, Dr. Eskina &amp; Prof. Joachim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2: PITCHING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Philosophy: Scientific Storytelling &amp; Executive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[PHILOSOPHY] </a:t>
            </a:r>
            <a:r>
              <a:rPr sz="1400" b="1">
                <a:solidFill>
                  <a:srgbClr val="F8FAFC"/>
                </a:solidFill>
              </a:rPr>
              <a:t>The Purpose of a Presentation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Golden Rule (Bostanci): </a:t>
            </a:r>
            <a:r>
              <a:rPr>
                <a:solidFill>
                  <a:srgbClr val="94A3B8"/>
                </a:solidFill>
              </a:rPr>
              <a:t>'A presentation is not about showing everything you know. It's helping the audience understand what matters.'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Emotion Creates Memory: </a:t>
            </a:r>
            <a:r>
              <a:rPr>
                <a:solidFill>
                  <a:srgbClr val="94A3B8"/>
                </a:solidFill>
              </a:rPr>
              <a:t>Audiences forget 90% of raw data within 24 hours. They remember how you made them feel (confidence, clarity, trust).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Balance Data with Story: </a:t>
            </a:r>
            <a:r>
              <a:rPr>
                <a:solidFill>
                  <a:srgbClr val="94A3B8"/>
                </a:solidFill>
              </a:rPr>
              <a:t>Combine robust scientific/financial evidence with a compelling narrative arc.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Audience First: </a:t>
            </a:r>
            <a:r>
              <a:rPr>
                <a:solidFill>
                  <a:srgbClr val="94A3B8"/>
                </a:solidFill>
              </a:rPr>
              <a:t>Tailor every slide to the audience's stakes: What problem does this solve for them?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[FRAMEWORK] </a:t>
            </a:r>
            <a:r>
              <a:rPr sz="1400" b="1">
                <a:solidFill>
                  <a:srgbClr val="F8FAFC"/>
                </a:solidFill>
              </a:rPr>
              <a:t>The ABCDE Delivery Framework (Lockington)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 — Accuracy: </a:t>
            </a:r>
            <a:r>
              <a:rPr>
                <a:solidFill>
                  <a:srgbClr val="94A3B8"/>
                </a:solidFill>
              </a:rPr>
              <a:t>Flawless clinical/financial integrity. Transparent limitations build trust.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 — Brevity: </a:t>
            </a:r>
            <a:r>
              <a:rPr>
                <a:solidFill>
                  <a:srgbClr val="94A3B8"/>
                </a:solidFill>
              </a:rPr>
              <a:t>The 300-word abstract rule. A standard presentation should fit across 6 punchy slides.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 — Clarity &amp; Content: </a:t>
            </a:r>
            <a:r>
              <a:rPr>
                <a:solidFill>
                  <a:srgbClr val="94A3B8"/>
                </a:solidFill>
              </a:rPr>
              <a:t>Exactly one core takeaway per slide. If a slide has two thoughts, split it.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 — Delivery: </a:t>
            </a:r>
            <a:r>
              <a:rPr>
                <a:solidFill>
                  <a:srgbClr val="94A3B8"/>
                </a:solidFill>
              </a:rPr>
              <a:t>Grounded posture, vocal resonance, and deliberate use of silence.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 — Enthusiasm: </a:t>
            </a:r>
            <a:r>
              <a:rPr>
                <a:solidFill>
                  <a:srgbClr val="94A3B8"/>
                </a:solidFill>
              </a:rPr>
              <a:t>Demonstrable conviction. Energy is contagious across the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2: PITCHING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Auditorium Ergonomics &amp; Slide Design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[SLIDE DESIGN] </a:t>
            </a:r>
            <a:r>
              <a:rPr sz="1400" b="1">
                <a:solidFill>
                  <a:srgbClr val="F8FAFC"/>
                </a:solidFill>
              </a:rPr>
              <a:t>Visual Rules for Big Stages (Eskina &amp; Joachim)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Use Solid Black Backgrounds: </a:t>
            </a:r>
            <a:r>
              <a:rPr>
                <a:solidFill>
                  <a:srgbClr val="94A3B8"/>
                </a:solidFill>
              </a:rPr>
              <a:t>In large congress halls, white slides produce blinding glare, wash out text, and put the speaker in silhouette. Black creates high contrast and frames the speaker.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One Idea Per Slide: </a:t>
            </a:r>
            <a:r>
              <a:rPr>
                <a:solidFill>
                  <a:srgbClr val="94A3B8"/>
                </a:solidFill>
              </a:rPr>
              <a:t>Eliminate text paragraphs. Use short bullet fragments or high-impact metric callouts.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Ban Memes and Cartoons: </a:t>
            </a:r>
            <a:r>
              <a:rPr>
                <a:solidFill>
                  <a:srgbClr val="94A3B8"/>
                </a:solidFill>
              </a:rPr>
              <a:t>'If you have to explain a joke, it wasn't funny.' Cartoons distract, look amateurish, and fail across cultural boundaries.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Lightboard &amp; Interactive Media: </a:t>
            </a:r>
            <a:r>
              <a:rPr>
                <a:solidFill>
                  <a:srgbClr val="94A3B8"/>
                </a:solidFill>
              </a:rPr>
              <a:t>Keep presenter visible through glass annotations to maintain visual eye contact.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[PITCH STRUCTURE] </a:t>
            </a:r>
            <a:r>
              <a:rPr sz="1400" b="1">
                <a:solidFill>
                  <a:srgbClr val="F8FAFC"/>
                </a:solidFill>
              </a:rPr>
              <a:t>Rapid-Fire Presentations (3-6 Minutes)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Rapid Pitch Structure: </a:t>
            </a:r>
            <a:r>
              <a:rPr>
                <a:solidFill>
                  <a:srgbClr val="94A3B8"/>
                </a:solidFill>
              </a:rPr>
              <a:t>Ideal for investor pitches, executive summaries, and LBI podium talks.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Slide 1: The Problem: </a:t>
            </a:r>
            <a:r>
              <a:rPr>
                <a:solidFill>
                  <a:srgbClr val="94A3B8"/>
                </a:solidFill>
              </a:rPr>
              <a:t>One urgent, unmet clinical or market need stated in 30 seconds.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Slide 2-4: The Evidence / Solution: </a:t>
            </a:r>
            <a:r>
              <a:rPr>
                <a:solidFill>
                  <a:srgbClr val="94A3B8"/>
                </a:solidFill>
              </a:rPr>
              <a:t>One decisive dataset or technological demonstration.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Slide 5: Business / Clinical ROI: </a:t>
            </a:r>
            <a:r>
              <a:rPr>
                <a:solidFill>
                  <a:srgbClr val="94A3B8"/>
                </a:solidFill>
              </a:rPr>
              <a:t>Concrete impact on patient outcomes, efficiency, or margins.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Slide 6: The Ask / Action: </a:t>
            </a:r>
            <a:r>
              <a:rPr>
                <a:solidFill>
                  <a:srgbClr val="94A3B8"/>
                </a:solidFill>
              </a:rPr>
              <a:t>One unambiguous next step or recommendation.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2: PITCHING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Mastering Hostile &amp; Challenging Q&amp;A (Artemis Matsou)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[ARCHETYPES] </a:t>
            </a:r>
            <a:r>
              <a:rPr sz="1400" b="1">
                <a:solidFill>
                  <a:srgbClr val="F8FAFC"/>
                </a:solidFill>
              </a:rPr>
              <a:t>The 4 Difficult Question Archetypes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1. The Show-Off: </a:t>
            </a:r>
            <a:r>
              <a:rPr>
                <a:solidFill>
                  <a:srgbClr val="94A3B8"/>
                </a:solidFill>
              </a:rPr>
              <a:t>'I published this 15 years ago...' -&gt; Acknowledge their pioneering work, then pivot to the current technological difference.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2. The Irrelevant Digression: </a:t>
            </a:r>
            <a:r>
              <a:rPr>
                <a:solidFill>
                  <a:srgbClr val="94A3B8"/>
                </a:solidFill>
              </a:rPr>
              <a:t>Asking about edge cases outside the topic -&gt; 'Fascinating question, but outside our study criteria; happy to discuss offline.'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3. The Direct Skeptic: </a:t>
            </a:r>
            <a:r>
              <a:rPr>
                <a:solidFill>
                  <a:srgbClr val="94A3B8"/>
                </a:solidFill>
              </a:rPr>
              <a:t>'Why didn't you choose Technique X?' -&gt; State protocol criteria calmly without defensiveness.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4. The Senior Public Critic: </a:t>
            </a:r>
            <a:r>
              <a:rPr>
                <a:solidFill>
                  <a:srgbClr val="94A3B8"/>
                </a:solidFill>
              </a:rPr>
              <a:t>Respect the senior colleague's historical standard, then anchor firmly in your prospective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[DEFENSE TACTICS] </a:t>
            </a:r>
            <a:r>
              <a:rPr sz="1400" b="1">
                <a:solidFill>
                  <a:srgbClr val="F8FAFC"/>
                </a:solidFill>
              </a:rPr>
              <a:t>The Golden Rules of Podium Defense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Never Bluff or Speculate: </a:t>
            </a:r>
            <a:r>
              <a:rPr>
                <a:solidFill>
                  <a:srgbClr val="94A3B8"/>
                </a:solidFill>
              </a:rPr>
              <a:t>'I don't have that specific parameter with me, and I prefer not to guess. Let's exchange details right after.' Projects ultimate confidence.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2-Second Strategic Pause: </a:t>
            </a:r>
            <a:r>
              <a:rPr>
                <a:solidFill>
                  <a:srgbClr val="94A3B8"/>
                </a:solidFill>
              </a:rPr>
              <a:t>Take a breath before answering. Prevents defensive reflex and signals deliberate mastery.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Restate Before Answering: </a:t>
            </a:r>
            <a:r>
              <a:rPr>
                <a:solidFill>
                  <a:srgbClr val="94A3B8"/>
                </a:solidFill>
              </a:rPr>
              <a:t>Ensures the entire hall hears the question and gives you 5 seconds to structure the response.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Write It Down: </a:t>
            </a:r>
            <a:r>
              <a:rPr>
                <a:solidFill>
                  <a:srgbClr val="94A3B8"/>
                </a:solidFill>
              </a:rPr>
              <a:t>Take brief notes on multi-part questions to address each component systematically.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2: PITCHING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Neurobiology of Fear, Imposter Syndrome &amp; Reappraisal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[PSYCHOLOGY] </a:t>
            </a:r>
            <a:r>
              <a:rPr sz="1400" b="1">
                <a:solidFill>
                  <a:srgbClr val="F8FAFC"/>
                </a:solidFill>
              </a:rPr>
              <a:t>The Psychological Biases (Savitsky &amp; Gilovich)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Illusion of Transparency: </a:t>
            </a:r>
            <a:r>
              <a:rPr>
                <a:solidFill>
                  <a:srgbClr val="94A3B8"/>
                </a:solidFill>
              </a:rPr>
              <a:t>Speakers overestimate how nervous they appear by up to 80%. The audience cannot feel your pulse or adrenaline.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Anxiety Reappraisal (Brooks, Harvard): </a:t>
            </a:r>
            <a:r>
              <a:rPr>
                <a:solidFill>
                  <a:srgbClr val="94A3B8"/>
                </a:solidFill>
              </a:rPr>
              <a:t>Telling yourself 'I am calm' fails under adrenaline. Switching self-talk to 'I AM EXCITED' channels arousal into dynamic delivery and scores higher in competence.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Cognitive Reframing: </a:t>
            </a:r>
            <a:r>
              <a:rPr>
                <a:solidFill>
                  <a:srgbClr val="94A3B8"/>
                </a:solidFill>
              </a:rPr>
              <a:t>Over 95% of the room wants you to succeed. Reframe from 'I am being judged' to 'I am sharing valuable intelligence.'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Useful Contribution vs Exam: </a:t>
            </a:r>
            <a:r>
              <a:rPr>
                <a:solidFill>
                  <a:srgbClr val="94A3B8"/>
                </a:solidFill>
              </a:rPr>
              <a:t>You are delivering practical value, not taking a viva exam.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[FAILURE PROTOCOL] </a:t>
            </a:r>
            <a:r>
              <a:rPr sz="1400" b="1">
                <a:solidFill>
                  <a:srgbClr val="F8FAFC"/>
                </a:solidFill>
              </a:rPr>
              <a:t>Rehearse Failure Recovery, Not Perfection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If Slide Clicker / Video Fails: </a:t>
            </a:r>
            <a:r>
              <a:rPr>
                <a:solidFill>
                  <a:srgbClr val="94A3B8"/>
                </a:solidFill>
              </a:rPr>
              <a:t>Never apologize profusely. State calmly: 'Let me describe exactly what this recording demonstrates...'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If Mind Goes Blank: </a:t>
            </a:r>
            <a:r>
              <a:rPr>
                <a:solidFill>
                  <a:srgbClr val="94A3B8"/>
                </a:solidFill>
              </a:rPr>
              <a:t>Pause, take a slow sip of water, and state: 'The essential takeaway here is...'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If Caught Off Guard: </a:t>
            </a:r>
            <a:r>
              <a:rPr>
                <a:solidFill>
                  <a:srgbClr val="94A3B8"/>
                </a:solidFill>
              </a:rPr>
              <a:t>Acknowledge the perspective and park it for follow-up.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Post-Talk Review: </a:t>
            </a:r>
            <a:r>
              <a:rPr>
                <a:solidFill>
                  <a:srgbClr val="94A3B8"/>
                </a:solidFill>
              </a:rPr>
              <a:t>Note what worked well first. Never obsess solely over one awkward moment.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2: PITCHING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Non-Verbal Dominance &amp; International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[BODY LANGUAGE] </a:t>
            </a:r>
            <a:r>
              <a:rPr sz="1400" b="1">
                <a:solidFill>
                  <a:srgbClr val="F8FAFC"/>
                </a:solidFill>
              </a:rPr>
              <a:t>The Mehrabian Rule in the First 5 Seconds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55% Visual &amp; Body Language: </a:t>
            </a:r>
            <a:r>
              <a:rPr>
                <a:solidFill>
                  <a:srgbClr val="94A3B8"/>
                </a:solidFill>
              </a:rPr>
              <a:t>The audience perceives posture, grounding, and eye contact before hearing content.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38% Vocal Tone &amp; Cadence: </a:t>
            </a:r>
            <a:r>
              <a:rPr>
                <a:solidFill>
                  <a:srgbClr val="94A3B8"/>
                </a:solidFill>
              </a:rPr>
              <a:t>Pitch, warmth, resonance, and tempo control executive authority.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Only 7% Spoken Words: </a:t>
            </a:r>
            <a:r>
              <a:rPr>
                <a:solidFill>
                  <a:srgbClr val="94A3B8"/>
                </a:solidFill>
              </a:rPr>
              <a:t>Raw verbiage carries minimal weight if body language projects insecurity.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Power Triangle: </a:t>
            </a:r>
            <a:r>
              <a:rPr>
                <a:solidFill>
                  <a:srgbClr val="94A3B8"/>
                </a:solidFill>
              </a:rPr>
              <a:t>Two feet planted shoulder-width apart, open visible hands, deliberate stillness during key points (no swaying or pacing).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[GLOBAL STAGE] </a:t>
            </a:r>
            <a:r>
              <a:rPr sz="1400" b="1">
                <a:solidFill>
                  <a:srgbClr val="F8FAFC"/>
                </a:solidFill>
              </a:rPr>
              <a:t>Speaking in a Foreign Language (Eskina)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International Reality: </a:t>
            </a:r>
            <a:r>
              <a:rPr>
                <a:solidFill>
                  <a:srgbClr val="94A3B8"/>
                </a:solidFill>
              </a:rPr>
              <a:t>Over 80% of attendees at global congresses speak English as a non-native language.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Visible Bravery: </a:t>
            </a:r>
            <a:r>
              <a:rPr>
                <a:solidFill>
                  <a:srgbClr val="94A3B8"/>
                </a:solidFill>
              </a:rPr>
              <a:t>Audiences do not judge accent; they judge clarity, structure, and transfer of meaning.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4 Simplification Rules: </a:t>
            </a:r>
            <a:r>
              <a:rPr>
                <a:solidFill>
                  <a:srgbClr val="94A3B8"/>
                </a:solidFill>
              </a:rPr>
              <a:t>1. Short sentences. 2. One idea per slide. 3. Zero complex puns or idioms. 4. Strategic 2-second pauses.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Let Slides Support: </a:t>
            </a:r>
            <a:r>
              <a:rPr>
                <a:solidFill>
                  <a:srgbClr val="94A3B8"/>
                </a:solidFill>
              </a:rPr>
              <a:t>Use clean visual anchors so the slide confirms what the voice states.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2: PITCHING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Digital Influence: The B2B LinkedIn Engine (Bostanci)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[LINKEDIN FORMULA] </a:t>
            </a:r>
            <a:r>
              <a:rPr sz="1400" b="1">
                <a:solidFill>
                  <a:srgbClr val="F8FAFC"/>
                </a:solidFill>
              </a:rPr>
              <a:t>'LinkedIn is Not for Selfies'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The Objective: </a:t>
            </a:r>
            <a:r>
              <a:rPr>
                <a:solidFill>
                  <a:srgbClr val="94A3B8"/>
                </a:solidFill>
              </a:rPr>
              <a:t>Convert congress attendance into clinical authority, investor visibility, and talent recruitment.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Phase 1: Before Congress: </a:t>
            </a:r>
            <a:r>
              <a:rPr>
                <a:solidFill>
                  <a:srgbClr val="94A3B8"/>
                </a:solidFill>
              </a:rPr>
              <a:t>Signal upcoming focus topics and questions. Build professional anticipation.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Phase 2: During Congress: </a:t>
            </a:r>
            <a:r>
              <a:rPr>
                <a:solidFill>
                  <a:srgbClr val="94A3B8"/>
                </a:solidFill>
              </a:rPr>
              <a:t>Share 1-2 real-time clinical or technological breakthroughs with high-signal analysis.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Phase 3: Post-Congress Synthesis: </a:t>
            </a:r>
            <a:r>
              <a:rPr>
                <a:solidFill>
                  <a:srgbClr val="94A3B8"/>
                </a:solidFill>
              </a:rPr>
              <a:t>Publish a structured debrief: 'What we learned &amp; what changes our clinical protocols.' Attach one high-impact visual and tag key partners.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[REPUTATION MGMT] </a:t>
            </a:r>
            <a:r>
              <a:rPr sz="1400" b="1">
                <a:solidFill>
                  <a:srgbClr val="F8FAFC"/>
                </a:solidFill>
              </a:rPr>
              <a:t>Professional Reputation Rules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Digital Permanence: </a:t>
            </a:r>
            <a:r>
              <a:rPr>
                <a:solidFill>
                  <a:srgbClr val="94A3B8"/>
                </a:solidFill>
              </a:rPr>
              <a:t>Everything posted online is permanent. Reflect the clinical standard of your hospital.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Patient Privacy: </a:t>
            </a:r>
            <a:r>
              <a:rPr>
                <a:solidFill>
                  <a:srgbClr val="94A3B8"/>
                </a:solidFill>
              </a:rPr>
              <a:t>Strict compliance with clinical confidentiality. Zero unconsented patient data.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Amplify Collaborators: </a:t>
            </a:r>
            <a:r>
              <a:rPr>
                <a:solidFill>
                  <a:srgbClr val="94A3B8"/>
                </a:solidFill>
              </a:rPr>
              <a:t>Tagging and elevating colleagues, junior doctors, and industry innovators multiplies reach.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Commercial Conversion: </a:t>
            </a:r>
            <a:r>
              <a:rPr>
                <a:solidFill>
                  <a:srgbClr val="94A3B8"/>
                </a:solidFill>
              </a:rPr>
              <a:t>Inbound surgeon talent and institutional partnerships originate from credible digital commentary.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SECTION 03</a:t>
            </a:r>
          </a:p>
          <a:p>
            <a:pPr>
              <a:spcBef>
                <a:spcPts val="1000"/>
              </a:spcBef>
              <a:defRPr sz="3400" b="1">
                <a:solidFill>
                  <a:srgbClr val="F8FAFC"/>
                </a:solidFill>
              </a:defRPr>
            </a:pPr>
            <a:r>
              <a:t>Strategic Exhibition Meeting Log &amp; Field Notes</a:t>
            </a:r>
          </a:p>
          <a:p>
            <a:pPr>
              <a:spcBef>
                <a:spcPts val="1200"/>
              </a:spcBef>
              <a:defRPr sz="1600">
                <a:solidFill>
                  <a:srgbClr val="14B8A6"/>
                </a:solidFill>
              </a:defRPr>
            </a:pPr>
            <a:r>
              <a:t>Standardized debrief templates to record contacts, discussions, proposed terms &amp; action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REFRACTIVE &amp; MICROSCOPE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Carl Zeiss Meditec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Single-vendor OR + Diagnostic lane bundle; leverage ATOS/Z8 quotes against VisuMax pricing.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VisuMax 800 (SMILE Pro), PRESBYOND, KINEVO Microscope, Cirrus OCT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REFRACTIVE LASER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Schwind Eye-Tech-Solutions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Turnkey refractive suite; evaluate capital vs per-procedure click fee and tissue-saving spiral scan.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ATOS (SmartSight KLEx), AMARIS 1050RS Excimer, MS-39 OCT, PresbyMAX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FEMTO &amp; SOLID-STATE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Ziemer Ophthalmic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Multi-purpose femto (cataract + refractive) and gas-free solid-state laser to eliminate ArF OPEX.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FEMTO Z8 NEO (CLEAR Supra), AQUARIUZ Solid-State Wet Ablation Laser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CATARACT PLATFORM &amp; IOLS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Alcon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New clinic setup bundle: phaco platform + high-volume premium IOL supply agreement.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Centurion with ACTIVE SENTRY, PanOptix, Vivity, WaveLight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KLEX &amp; PREMIUM IOLS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Johnson &amp; Johnson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Benchmark ELITA sub-50 nJ energy against Zeiss; explore premium IOL partnership.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ELITA Femtosecond (SILK), TECNIS Synergy, Eyhance, Catalys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IOL PARTNERSHIP &amp; DINNER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Rayner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Leverage networking dinner at Roe Canary Wharf; UK/EU hospital supply terms and volume rebates.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RayOne Full Range, RayOne EMV, Sophi Phaco, OVDs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OUTPATIENT DIAGNOSTIC 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Rexxam &amp; Diagnostics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Complete out-patient diagnostic lane package comparison vs Nidek and Zeiss.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Autorefractors, Retinal Cameras, Slit Lamps, Topographers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MIGS &amp; GLAUCOMA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Glaukos &amp; Sight 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Glaucoma interventional service line; compare implant vs non-implant MIGS margin profile.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iStent inject W (Glaukos), OMNI Surgical System (Sight Sciences), iCare Tonometry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COMMERCIAL /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Open Exhibition Meeting #1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Record ad-hoc discussions, startup meetings, or new clinical distributor negotiations.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[Enter Products / Technology Discussed]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COMMERCIAL /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Open Exhibition Meeting #2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Record ad-hoc discussions, startup meetings, or new clinical distributor negotiations.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[Enter Products / Technology Discussed]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COMMERCIAL /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Open Exhibition Meeting #3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Record ad-hoc discussions, startup meetings, or new clinical distributor negotiations.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[Enter Products / Technology Discussed]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EXHIBITION LOG: COMMERCIAL /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Vendor Debrief: Open Exhibition Meeting #4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Strategic Angle: Record ad-hoc discussions, startup meetings, or new clinical distributor negotiations.</a:t>
            </a:r>
          </a:p>
          <a:p>
            <a:pPr>
              <a:spcBef>
                <a:spcPts val="400"/>
              </a:spcBef>
              <a:defRPr sz="1000">
                <a:solidFill>
                  <a:srgbClr val="14B8A6"/>
                </a:solidFill>
              </a:defRPr>
            </a:pPr>
            <a:r>
              <a:t>Target Platforms: [Enter Products / Technology Discussed]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KEY CONTACT &amp; DETAILS (Write Below):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Person Name: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Role / Title: 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Email: ________________________________________________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Phone / Mobile: ________________________________________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Location / Office: ______________________________________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MEETING DEBRIEF &amp; ACTION ITEMS (Write Below):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We Discuss / Product Demo: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What Did They Offer / Proposed Pricing / Terms: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  <a:br/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Core Takeaway / Hospital Fit: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Next Action &amp; Follow-up Timeline: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Call / meeting scheduled on: ________________________</a:t>
            </a:r>
            <a:br/>
            <a:r>
              <a:t>• Responsible person: _________________________________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EXECUTIVE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90-Day Implementation Plan for Eye Clinic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[IMMEDIATE] </a:t>
            </a:r>
            <a:r>
              <a:rPr sz="1400" b="1">
                <a:solidFill>
                  <a:srgbClr val="F8FAFC"/>
                </a:solidFill>
              </a:rPr>
              <a:t>Phase 1: Days 1 - 30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Consolidate Vendor Quotes: </a:t>
            </a:r>
            <a:r>
              <a:rPr>
                <a:solidFill>
                  <a:srgbClr val="94A3B8"/>
                </a:solidFill>
              </a:rPr>
              <a:t>Issue formal RFPs to Zeiss, Schwind, and Ziemer for refractive suite tenders.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Follow Up Congress Leads: </a:t>
            </a:r>
            <a:r>
              <a:rPr>
                <a:solidFill>
                  <a:srgbClr val="94A3B8"/>
                </a:solidFill>
              </a:rPr>
              <a:t>Send customized emails to contacts recorded in Part 3 with reference to booth demos.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Publish LinkedIn Debrief: </a:t>
            </a:r>
            <a:r>
              <a:rPr>
                <a:solidFill>
                  <a:srgbClr val="94A3B8"/>
                </a:solidFill>
              </a:rPr>
              <a:t>Execute the 3-phase LinkedIn formula to signal innovation leadership.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B82F6"/>
                </a:solidFill>
              </a:rPr>
              <a:t>[COMMERCIAL] </a:t>
            </a:r>
            <a:r>
              <a:rPr sz="1400" b="1">
                <a:solidFill>
                  <a:srgbClr val="F8FAFC"/>
                </a:solidFill>
              </a:rPr>
              <a:t>Phase 2: Days 31 - 60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Finalize Platform Decision: </a:t>
            </a:r>
            <a:r>
              <a:rPr>
                <a:solidFill>
                  <a:srgbClr val="94A3B8"/>
                </a:solidFill>
              </a:rPr>
              <a:t>Evaluate KLEx sub-100 nJ Day-1 outcomes vs cut-time efficiency for OR list planning.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Negotiate Click Fees: </a:t>
            </a:r>
            <a:r>
              <a:rPr>
                <a:solidFill>
                  <a:srgbClr val="94A3B8"/>
                </a:solidFill>
              </a:rPr>
              <a:t>Benchmark per-eye licensing fees; target 15-25% reduction based on multi-vendor rivalry.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Service &amp; Warranty Terms: </a:t>
            </a:r>
            <a:r>
              <a:rPr>
                <a:solidFill>
                  <a:srgbClr val="94A3B8"/>
                </a:solidFill>
              </a:rPr>
              <a:t>Lock down 3-year full maintenance contracts including optical heads and trackers.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10512"/>
            <a:ext cx="29260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[SCALE] </a:t>
            </a:r>
            <a:r>
              <a:rPr sz="1400" b="1">
                <a:solidFill>
                  <a:srgbClr val="F8FAFC"/>
                </a:solidFill>
              </a:rPr>
              <a:t>Phase 3: Days 61 - 90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Surgeon Training Pathway: </a:t>
            </a:r>
            <a:r>
              <a:rPr>
                <a:solidFill>
                  <a:srgbClr val="94A3B8"/>
                </a:solidFill>
              </a:rPr>
              <a:t>Schedule wet lab and proctoring certifications for anterior segment surgeons.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Launch Cash-Pay Packages: </a:t>
            </a:r>
            <a:r>
              <a:rPr>
                <a:solidFill>
                  <a:srgbClr val="94A3B8"/>
                </a:solidFill>
              </a:rPr>
              <a:t>Create marketing campaigns around 'Flapless KLEx: Day-1 20/20 Vision'.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Presbyopia Service Line: </a:t>
            </a:r>
            <a:r>
              <a:rPr>
                <a:solidFill>
                  <a:srgbClr val="94A3B8"/>
                </a:solidFill>
              </a:rPr>
              <a:t>Integrate extended depth-of-focus protocols to capture the 45-60 demographic.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