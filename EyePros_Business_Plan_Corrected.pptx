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EyePros</a:t>
            </a:r>
            <a:br/>
            <a:r>
              <a:t>Business Plan</a:t>
            </a:r>
          </a:p>
          <a:p>
            <a:pPr>
              <a:spcBef>
                <a:spcPts val="1400"/>
              </a:spcBef>
              <a:defRPr sz="2000">
                <a:solidFill>
                  <a:srgbClr val="D2EBE6"/>
                </a:solidFill>
                <a:latin typeface="Arial"/>
              </a:defRPr>
            </a:pPr>
            <a:r>
              <a:t>Back in Focus: Consultant-Led Private Eye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5120640" cy="502920"/>
          </a:xfrm>
          <a:prstGeom prst="roundRect">
            <a:avLst/>
          </a:prstGeom>
          <a:solidFill>
            <a:srgbClr val="1F3F39"/>
          </a:solidFill>
          <a:ln>
            <a:solidFill>
              <a:srgbClr val="467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Presented by: Takoua Selmi  Growth &amp; Business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217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E1DC"/>
                </a:solidFill>
              </a:defRPr>
            </a:pPr>
            <a:r>
              <a:t>www.eyepros.co.uk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List of Contents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Strategic roadmap, commercial model and investment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1  About EyePros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2  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3  Traction &amp;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4048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4  Pricing &amp;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7200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5  Market Sizing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0352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6  Competitors &amp;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7  Business Model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8  Financial Summary (Corrected P&amp;L)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9  Investment &amp; Funding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10  Launch &amp; Roadmap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11  Team &amp; Regulatory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30352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12  Sources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Who We Are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Executive summary and founding clinical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EyePros Overview (ELSAHN LTD — Companies House 07909477)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EyePros is a high-growth private ophthalmology practice led by two consultant ophthalmic surgeons (Mr Ahmad Elsahn &amp; Ms Yasmine Abdalla).</a:t>
            </a:r>
            <a:br/>
            <a:br/>
            <a:r>
              <a:t>• FY2026 actual performance: £230,309 revenue at 94.9% gross margin.</a:t>
            </a:r>
            <a:br/>
            <a:r>
              <a:t>• Strategic objective: Bring surgery in-house at Kingfisher House, Nottingham — eliminating third-party hospital list fees and saving ~£1,575 per eye vs The Park Hospital.</a:t>
            </a:r>
            <a:br/>
            <a:r>
              <a:t>• Practice philosophy: Uncompromising consultant continuity across all 7 core subspecialties in an unhurried, boutique clinical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1206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Our Vision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To become the premier consultant-led ophthalmic clinic group in the Midlands and the UK, defining the gold standard for clinical excellence, transparent pricing, and subspecialty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474720"/>
            <a:ext cx="51206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Our Mission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Deliver unhurried, named-surgeon continuity from initial consultation through surgery to discharge. Combine all 7 ophthalmic disciplines under one roof with transparent pricing and compassionate, boutique care. 'See What's Possible.'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NHS eye care is overwhelmed — patients urgently need private alternatives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6,600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NUH Waiting List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Patients actively waiting on Nottingham University Hospitals ophthalmology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69%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18-Week Target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Treated within standard (national target is 92%)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16–32 wks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Wait for Surgery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Average wait 16 wks; 8 in 10 wait up to 32 wks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16%–20%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NHS Tariff Cuts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National tariff reduction in 2025/26 forcing service rationing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The Regional Market Failure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High-volume corporate chains offer 'factory' cataract surgery: 10-minute slots, rotating locums, and zero premium lens options.</a:t>
            </a:r>
            <a:br/>
            <a:r>
              <a:t>• Private acute general hospitals treat ophthalmology as an afterthought: rotating surgeons, shared non-specialist theatres, high facility fees.</a:t>
            </a:r>
            <a:br/>
            <a:r>
              <a:t>• NHS Integrated Care Boards (ICBs) have aggressively rationed lifestyle procedures: dry eye treatments, blepharoplasty, and MIGS are largely defunded.</a:t>
            </a:r>
            <a:br/>
            <a:r>
              <a:t>• THE OPPORTUNITY: Nobody in the East Midlands offers named-surgeon continuity + all 7 subspecialties + a boutique, dedicated eye facility.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We're Already Treating Patients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Proven clinical traction and immediate commercial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£230K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FY2026 Actual Revenue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Operating at 94.9% gross margin on current caseload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~3–5 /wk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Current Surgical Volume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Cataract &amp; RLE eyes operating weekly at The Park Hospital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£156K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Surgical Income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Direct procedure income generated in FY2026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Active Surgeons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Consultant ophthalmic surgeons already treating 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Commercial Foundation Already Live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✔ Fully accredited by all major private insurers: Bupa, AXA Health, Aviva, Vitality, WPA.</a:t>
            </a:r>
            <a:br/>
            <a:r>
              <a:t>✔ Syndesis digital referral portal active with local independent and group optometrists.</a:t>
            </a:r>
            <a:br/>
            <a:r>
              <a:t>✔ 0% APR patient financing live over 10–12 months, removing payment friction for self-pay procedures.</a:t>
            </a:r>
            <a:br/>
            <a:r>
              <a:t>✔ Established patient base with 5-star clinical feedback and active word-of-mouth referral loops.</a:t>
            </a:r>
            <a:br/>
            <a:r>
              <a:t>✔ Immediate volume ready to transition directly into Kingfisher House on day one of commissioning.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Services We Offer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Full-spectrum consultant care across 8 ophthalmic disciplines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Cataract Surgery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Micro-incision phaco, Toric, EDOF, Trifocal, Monofocal-Plus lenses.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Refractive Surgery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Femto-LASIK (WaveLight FS200/EX500), LASEK/PRK, SMILE, ICL, RLE.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Glaucoma &amp; MIGS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SLT laser (first-line), iStent Inject W, PreserFlo, Hydrus, trabeculectomy.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Medical Retina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Same-week Anti-VEGF (Eylea, Vabysmo), wet AMD, DMO, RVO, PVD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Oculoplastics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Upper/lower blepharoplasty, ptosis repair, ectropion/entropion, chalazion.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8404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EyeSpa Dry Eye Clinic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IPL therapy (C-Suite), LipiFlow, meibomian expression, LenzClub.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Cornea &amp; Uveitis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Complex corneal disease, keratoconus cross-linking (CXL), uveitis care.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8404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Vitreo-Retinal Surgery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Epiretinal membrane peel, macular hole repair, retinal detachment.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Transparent Fixed Pricing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Confirmed EyePros Price List (2 September 2026) vs. Regional Competitors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645920"/>
                <a:gridCol w="1645920"/>
                <a:gridCol w="4206240"/>
              </a:tblGrid>
              <a:tr h="3990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Procedure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EyePros Price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Competitor Range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What's Included &amp; Revenue Feature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Standard Cataract (Monofocal)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CAT-STD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£2,250 / eye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£2,500 – £3,450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Surgeon + facility + IOL + drops + 3-month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Premium Cataract (Toric/EDOF/Trifocal)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CAT-PREM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£4,000 / eye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£4,500 – £6,000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Premium lens + all scans + unlimited post-op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Femto-LASIK (WaveLight Suite)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REF-LASIK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£2,000 / eye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£1,795 – £2,995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FS200 + EX500 suite, all pre/post-op 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LASEK / PRK (Surface Laser)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REF-LASEK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£1,750 / eye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self-pay, surface ablation option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SLT Glaucoma Laser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GLA-SLT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£995 / eye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£800 – £1,200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First-line drop alternative; IOP monitoring 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MIGS Add-on (with Cataract)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GLA-MIGS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+£2,500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Limited availability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iStent Inject W / PreserFlo / Hydrus implant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Anti-VEGF Intravitreal Injection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RET-IVT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£995 – £1,795 / inj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£1,000 – £1,500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Eylea / Vabysmo; recurring 3–6 injections/year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YAG Capsulotomy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LAS-YAG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£595 – £895 / eye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£600 – £900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Quick outpatient laser; high procedure margin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EyeSpa Dry Eye Course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DRY-IPL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£450 – £850 (course)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Limited availability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Diagnostic workup £95–£250; C-Suite IPL course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Initial Assessment &amp; Diagnostics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CON-INIT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£95 – £250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£250 – £350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OCT, biometry, corneal topography, visual fields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Red Ocean vs Blue Ocean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Strategic positioning: making the corporate volume competition irrelevant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RED OCEAN  (Compete in Existing Market)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❌ Volume cataract factories (10-minute slots, 30+ eyes per day)</a:t>
            </a:r>
            <a:br/>
            <a:r>
              <a:t>❌ Rotating locum surgeons — different doctor every consultation</a:t>
            </a:r>
            <a:br/>
            <a:r>
              <a:t>❌ 1–2 specialties only (cataract OR high-street laser, never integrated)</a:t>
            </a:r>
            <a:br/>
            <a:r>
              <a:t>❌ Compete for low-margin NHS outsourcing contracts (race to bottom)</a:t>
            </a:r>
            <a:br/>
            <a:r>
              <a:t>❌ Monofocal-only — strict exclusion of premium lenses and lifestyle care</a:t>
            </a:r>
            <a:br/>
            <a:r>
              <a:t>❌ Impersonal clinical environment with minimal post-operative continuity</a:t>
            </a:r>
            <a:br/>
            <a:br/>
            <a:r>
              <a:t>WHO IS HERE:</a:t>
            </a:r>
            <a:br/>
            <a:r>
              <a:t>Optical Express (£146.5M) • Optegra (£99.8M) • SpaMedica • Newmedica • Spire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BLUE OCEAN  (Create Uncontested Market Space)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✔ Named consultant surgeon: same specialist from initial scan to discharge</a:t>
            </a:r>
            <a:br/>
            <a:r>
              <a:t>✔ All 7–8 ophthalmic subspecialties under one roof, one trusted brand</a:t>
            </a:r>
            <a:br/>
            <a:r>
              <a:t>✔ 30–45 minute unhurried consultations (personalized medical care)</a:t>
            </a:r>
            <a:br/>
            <a:r>
              <a:t>✔ In-house ultraclean laminar theatre + dedicated WaveLight laser suite</a:t>
            </a:r>
            <a:br/>
            <a:r>
              <a:t>✔ EyeSpa dry eye clinic as a dedicated wellness &amp; diagnostic destination</a:t>
            </a:r>
            <a:br/>
            <a:r>
              <a:t>✔ Recurring revenue subscriptions: LenzClub &amp; SightPlan (~£134K Y3)</a:t>
            </a:r>
            <a:br/>
            <a:r>
              <a:t>✔ Surgeon Access Scheme: host independent visiting consultant surgeons</a:t>
            </a:r>
            <a:br/>
            <a:r>
              <a:t>✔ 0% APR patient financing + fully transparent fixed pricing packages</a:t>
            </a:r>
            <a:br/>
            <a:br/>
            <a:r>
              <a:t>WHO IS HERE:</a:t>
            </a:r>
            <a:br/>
            <a:r>
              <a:t>Nobody in the East Midlands. This is EyePros' category to lead.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Total addressable, serviceable, and obtainable market sizing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£750M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TAM (Great Britain)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Total UK private self-pay + PMI eye care (excl. NHS tenders)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£125M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SAM (Midlands)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Regional self-pay + PMI eye care market (16.4% of UK pop)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£56M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East Midlands Catchment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Primary catchment: Notts, Leics, Derbys (~45% of Midlands)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£2.44M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SOM (Year 3 Target)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Realistic EyePros market capture target (~4.3% of catchment)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474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201168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UK TAM (GB)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Midlands SAM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East Midlands Catchment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Growth Driver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Cataract Surgery (Self-Pay + PMI)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£200M – £280M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£33M – £46M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£15M – £21M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Premium lens upsell; 0% copay on NHS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Refractive Surgery (Laser/ICL/RLE)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£120M – £180M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£20M – £30M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£9M – £14M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self-pay; WaveLight suite from go-live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Medical Retina (Private Injections)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£50M – £80M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£8M – £13M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£4M – £6M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Private anti-VEGF bypasses severe NHS delay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Glaucoma &amp; Laser (MIGS/SLT)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£30M – £50M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£5M – £8M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£2M – £4M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NICE-recommended SLT &amp; micro-stents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Dry Eye &amp; Oculoplastics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£60M – £100M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£10M – £16M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£5M – £7M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Complete NHS rationing drives 100% self-pay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SUBTOTAL (5 Core Specialties)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£460M – £690M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£76M – £113M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£35M – £52M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Core addressable clinical disciplines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Competitive Landscape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Benchmarking major market participants and local competitors (Updated Oct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914400"/>
                <a:gridCol w="4663440"/>
                <a:gridCol w="2011680"/>
              </a:tblGrid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Competitor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Clinics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Their Gap = EyePros Opportunity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Local Pricing (Verified)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Optical Express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£146.5M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~130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Laser factory model; no retina, glaucoma, MIGS, or oculoplastics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Monofocal: £2,500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Optegra (EssilorLuxottica)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£99.8M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70+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Acquired Oct 2025; rotating surgeons; limited dry eye care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Nottingham Monofocal: £2,995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SpaMedica (Veonet)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High-volume NHS cataract factory; zero premium IOLs; no subspecialties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NHS only (0% private)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Newmedica (Specsavers JV)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Major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Community NHS provider; monofocal only; no refractive laser or EyeSpa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NHS contracts primary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Spire Nottingham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Hospital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General acute hospital; eye care is a sideline; rotating surgeons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Monofocal: £3,405 all-in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Nuffield Leicester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Hospital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 facility fees; no dedicated eye suite; lack of named surgeon continuity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Monofocal: £3,450 all-in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NHS — NUH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Public 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6,600 waiting; 16-wk average wait (32 wks 80th%); 69% 18-wk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Free (Severe rationing)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EyePros Strategic Differentiator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While corporate chains like Optical Express (£146M) focus solely on high-street laser and SpaMedica operates NHS cataract assembly lines, EyePros captures the premium private market. By establishing Kingfisher House with in-house theatres, EyePros offers £2,250 standard cataract and £4,000 premium cataract with named consultant continuity, undercutting private hospitals (£3,400+) while delivering superior margins.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6 Patient Segments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Diverse demographic drivers and high average transaction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Premium Cataract (£2,000 – £4,000 / eye)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Demographic: 55–80 yrs, retired professionals &amp; active drivers</a:t>
            </a:r>
            <a:br/>
            <a:br/>
            <a:r>
              <a:t>Clinical Driver: Seeking spectacle independence via Toric, EDOF &amp; Trifocals.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Young Professionals (£1,750 – £2,450 / eye)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Demographic: 25–40 yrs, corporate &amp; digital executives</a:t>
            </a:r>
            <a:br/>
            <a:br/>
            <a:r>
              <a:t>Clinical Driver: Demand LASIK/SMILE/ICL to eliminate contact lens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Chronic Eye Disease (£650 – £1,650 / visit)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Demographic: 50+ yrs, Glaucoma, AMD, Diabetic retinopathy</a:t>
            </a:r>
            <a:br/>
            <a:br/>
            <a:r>
              <a:t>Clinical Driver: Urgent time-critical anti-VEGF injections and laser therapy.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Dry Eye &amp; Cosmetic (£450 – £3,600)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Demographic: 30–65 yrs, screen workers &amp; aesthetic clients</a:t>
            </a:r>
            <a:br/>
            <a:br/>
            <a:r>
              <a:t>Clinical Driver: LipiFlow/IPL relief + upper/lower blepharoplasty rejuvenation.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31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PMI Policyholders (Insurer Tariff Rates)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Demographic: Corporate &amp; private insured (Bupa, AXA, Aviva)</a:t>
            </a:r>
            <a:br/>
            <a:br/>
            <a:r>
              <a:t>Clinical Driver: Full insurer coverage bypassing NHS waiting lists completely.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31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University Students (£1,650 – £2,200 / eye)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Demographic: 18–25 yrs, Univ of Nottingham &amp; Trent</a:t>
            </a:r>
            <a:br/>
            <a:br/>
            <a:r>
              <a:t>Clinical Driver: Refractive laser candidates seeking 0% financing packages.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How Patients Arrive &amp; Pay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Dual funnel model: clinical referrals drive volume, self-pay drives margins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HOW PATIENTS ARRIVE (ACQUISITION)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~25%  Optometry &amp; GP Referrals (Synergy Network)</a:t>
            </a:r>
            <a:br/>
            <a:r>
              <a:t>• Formal shared-care agreements with 450 regional optical practices.</a:t>
            </a:r>
            <a:br/>
            <a:r>
              <a:t>• Seamless 1-click digital referral via Syndesis portal (GOS18 integration).</a:t>
            </a:r>
            <a:br/>
            <a:r>
              <a:t>• Post-operative review co-management fee (£45–£60) paid to optometrists.</a:t>
            </a:r>
            <a:br/>
            <a:br/>
            <a:r>
              <a:t>~60%  Direct to Patient (Digital Marketing &amp; DTC)</a:t>
            </a:r>
            <a:br/>
            <a:r>
              <a:t>• Highly targeted Google Search (PPC), SEO ranking for local conditions.</a:t>
            </a:r>
            <a:br/>
            <a:r>
              <a:t>• Educational social media, patient video testimonials, and webinars.</a:t>
            </a:r>
            <a:br/>
            <a:r>
              <a:t>• Rapid online consultation booking with transparent fixed pricing.</a:t>
            </a:r>
            <a:br/>
            <a:br/>
            <a:r>
              <a:t>~15%  Surgeon Access &amp; Corporate Partnerships</a:t>
            </a:r>
            <a:br/>
            <a:r>
              <a:t>• Independent visiting consultant surgeons bringing private caseload.</a:t>
            </a:r>
            <a:br/>
            <a:r>
              <a:t>• Regional corporate vision wellness screening &amp; employee schemes.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WHO PAYS (REVENUE REALIZATION)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~60%  Self-Pay (Direct Consumer Funding)</a:t>
            </a:r>
            <a:br/>
            <a:r>
              <a:t>• Debit/Credit card payment, split payments, and bank transfer.</a:t>
            </a:r>
            <a:br/>
            <a:r>
              <a:t>• 0% APR Patient Finance over 10–36 months (£99–£160/month).</a:t>
            </a:r>
            <a:br/>
            <a:r>
              <a:t>• Captures patients avoiding 16–32 week NHS surgical queues.</a:t>
            </a:r>
            <a:br/>
            <a:br/>
            <a:r>
              <a:t>~25%  Private Medical Insurance (PMI)</a:t>
            </a:r>
            <a:br/>
            <a:r>
              <a:t>• Accredited direct settlement: Bupa, AXA Health, Aviva, Vitality, WPA.</a:t>
            </a:r>
            <a:br/>
            <a:r>
              <a:t>• Direct billing for cataract surgery, glaucoma consultations, and retinal care.</a:t>
            </a:r>
            <a:br/>
            <a:br/>
            <a:r>
              <a:t>~15%  Subscription Products &amp; Care Plans</a:t>
            </a:r>
            <a:br/>
            <a:r>
              <a:t>• LenzClub: lens care and dry eye regular delivery membership.</a:t>
            </a:r>
            <a:br/>
            <a:r>
              <a:t>• SightPlan: chronic disease annual monitoring (OCT, fields, IOP checks).</a:t>
            </a:r>
            <a:br/>
            <a:r>
              <a:t>• Generates ~£134K predictable annual recurring revenue by Year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Business Model Canvas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Structured Osterwalder operational model with verified cost structures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286000"/>
                <a:gridCol w="2194560"/>
                <a:gridCol w="1828800"/>
              </a:tblGrid>
              <a:tr h="1463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Partners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Activities &amp; Resources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Proposition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Customer Relationships &amp; Channels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Customer Segments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Zeiss (equipment)</a:t>
                      </a:r>
                      <a:br/>
                      <a:r>
                        <a:t>• Alcon (laser lease)</a:t>
                      </a:r>
                      <a:br/>
                      <a:r>
                        <a:t>• Optometrists (450)</a:t>
                      </a:r>
                      <a:br/>
                      <a:r>
                        <a:t>• Insurers (Bupa/AXA)</a:t>
                      </a:r>
                      <a:br/>
                      <a:r>
                        <a:t>• Vector Finance</a:t>
                      </a:r>
                      <a:br/>
                      <a:r>
                        <a:t>• Apollo (fit-out QS)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ACTIVITIES:</a:t>
                      </a:r>
                      <a:br/>
                      <a:r>
                        <a:t>• Ophthalmic surgery</a:t>
                      </a:r>
                      <a:br/>
                      <a:r>
                        <a:t>• In-house consultations</a:t>
                      </a:r>
                      <a:br/>
                      <a:r>
                        <a:t>• Referral management</a:t>
                      </a:r>
                      <a:br/>
                      <a:r>
                        <a:t>• Digital marketing</a:t>
                      </a:r>
                      <a:br/>
                      <a:r>
                        <a:t>RESOURCES:</a:t>
                      </a:r>
                      <a:br/>
                      <a:r>
                        <a:t>• 2 Consultant surgeons</a:t>
                      </a:r>
                      <a:br/>
                      <a:r>
                        <a:t>• Kingfisher facility</a:t>
                      </a:r>
                      <a:br/>
                      <a:r>
                        <a:t>• Zeiss &amp; Alcon lasers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Named consultant continuity</a:t>
                      </a:r>
                      <a:br/>
                      <a:r>
                        <a:t>• All 7 subspecialties</a:t>
                      </a:r>
                      <a:br/>
                      <a:r>
                        <a:t>• 30-min unhurried visits</a:t>
                      </a:r>
                      <a:br/>
                      <a:r>
                        <a:t>• Transparent pricing</a:t>
                      </a:r>
                      <a:br/>
                      <a:r>
                        <a:t>• 0% patient finance</a:t>
                      </a:r>
                      <a:br/>
                      <a:r>
                        <a:t>• In-house surgery suite</a:t>
                      </a:r>
                      <a:br/>
                      <a:r>
                        <a:t>• Prices below chains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RELATIONSHIPS:</a:t>
                      </a:r>
                      <a:br/>
                      <a:r>
                        <a:t>• Named surgeon bond</a:t>
                      </a:r>
                      <a:br/>
                      <a:r>
                        <a:t>• Syndesis portal</a:t>
                      </a:r>
                      <a:br/>
                      <a:r>
                        <a:t>• LenzClub care plans</a:t>
                      </a:r>
                      <a:br/>
                      <a:r>
                        <a:t>CHANNELS:</a:t>
                      </a:r>
                      <a:br/>
                      <a:r>
                        <a:t>• Synergy optom net</a:t>
                      </a:r>
                      <a:br/>
                      <a:r>
                        <a:t>• Web / Google SEO</a:t>
                      </a:r>
                      <a:br/>
                      <a:r>
                        <a:t>• Insurer panels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NHS waiting patients</a:t>
                      </a:r>
                      <a:br/>
                      <a:r>
                        <a:t>• Self-pay refractive/cat</a:t>
                      </a:r>
                      <a:br/>
                      <a:r>
                        <a:t>• PMI-insured clients</a:t>
                      </a:r>
                      <a:br/>
                      <a:r>
                        <a:t>• Optometrist referrals</a:t>
                      </a:r>
                      <a:br/>
                      <a:r>
                        <a:t>• Corporate wellness</a:t>
                      </a:r>
                      <a:br/>
                      <a:r>
                        <a:t>• Visiting surgeons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COST STRUCTURE (Annual Run-Rate):</a:t>
                      </a:r>
                      <a:br/>
                      <a:r>
                        <a:t>• Staff Payroll: £275K/yr (8 roles; lower by £8K with Practice Manager role)</a:t>
                      </a:r>
                      <a:br/>
                      <a:r>
                        <a:t>• Facility Rent: £47K/yr (Kingfisher House, 15-month rent-free, Y8 break)</a:t>
                      </a:r>
                      <a:br/>
                      <a:r>
                        <a:t>• Alcon Laser Lease: £111K/yr (£9,277/mo x 60 mo, operating expense)</a:t>
                      </a:r>
                      <a:br/>
                      <a:r>
                        <a:t>• Consumables &amp; IOLs: Scaled per procedure with Zeiss minimum commitment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REVENUE STREAMS:</a:t>
                      </a:r>
                      <a:br/>
                      <a:r>
                        <a:t>• Surgical Fees: Cataract £2,250–£4,000 | Refractive £1,750–£2,000</a:t>
                      </a:r>
                      <a:br/>
                      <a:r>
                        <a:t>• Injections &amp; Laser: Anti-VEGF £995–£1,795 | SLT £995 | YAG £595–£895</a:t>
                      </a:r>
                      <a:br/>
                      <a:r>
                        <a:t>• Consultations: Initial Assessment £95–£250 | Diagnostics £95–£195</a:t>
                      </a:r>
                      <a:br/>
                      <a:r>
                        <a:t>• Subscriptions: LenzClub &amp; SightPlan recurring packages (~£134K Y3)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5-Year P&amp;L Financial Model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Corrected Base Case from EyePros_PnL_Financial_Model_corrected.xlsx &amp; Feasibility Study (£'000)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005840"/>
                <a:gridCol w="1005840"/>
                <a:gridCol w="1005840"/>
                <a:gridCol w="338328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P&amp;L Metric (£'000)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4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5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Financial Context / Verification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Revenue (Total Sales)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£1,747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£2,439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£3,093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Feasibility full model reaches £3.00M Y3 &amp; £3.69M Y5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Operating Profit (EBITDA)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£212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£610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£1,157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£1,284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£1,435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Profit after staff (£283K), rent, consumables &amp; Alcon lease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EBITDA Margin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Feasibility model margin reaches 59.6% Y3 (at £1.79M EBITDA)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Depreciation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(£114)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(£114)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(£114)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(£114)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(£114)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Capital equipment write-down over 7–10 useful years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Interest on Loan (Corrected)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(£87)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(£71)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(£53)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Recalculated on £1.2M @ 9.5% with 6-mo interest-only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Profit Before Tax (Corrected)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(£15)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£395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£956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£1,099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£1,268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EBITDA less depreciation &amp; interest (pre-corp tax)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Loan Repayments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(£181)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(£248)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(£248)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(£248)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(£248)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 months interest-only (£10K/mo), then £20,679/mo (£248K/yr)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Cash Left (Free Cash Flow)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£31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£362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£909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£1,036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£1,187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Real net cash generated after operational costs &amp; debt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Cumulative Cash Generated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£2,338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£3,525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Cumulative cash reserves reach £3.5M+ by Year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Loan Coverage Ratio (DSCR)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1.17x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2.46x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4.67x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5.18x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5.79x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Operating profit covers debt service (Lender minimum: 1.25x)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15000"/>
            <a:ext cx="10698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P&amp;L ANALYSIS: Year 1 construction year has small pre-tax loss (£15K) but positive cash flow (£31K) thanks to 6-mo interest-only period. Year 2 delivers immediate profitability (£395K PBT). Steady-state breakeven requires only 45–50% of modelled Year 3 patient volume. If PracticePartners raises £900K equity prepayment, debt service drops to £51K/yr and cover exceeds 22x.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Kingfisher House: Sources &amp; Uses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Fully costed capital requirement and verified funding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463040"/>
                <a:gridCol w="3931920"/>
                <a:gridCol w="1463040"/>
              </a:tblGrid>
              <a:tr h="3962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Uses of Funds (What We're Spending)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(£)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Sources of Funds (Where the Money Comes From)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(£)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Fit-out, Plan B (QS-optimised, including VAT)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£752,630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Senior Loan Facility (Vector Finance, 84 mo @ 9.5%)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£1,200,000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Outpatient diagnostic equipment (Day-one draw)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£135,000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Director Subordinated Reserve (Standby equity cushion)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£200,000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ZEISS Upfront Placement (repaid via consumables)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£51,964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PracticePartners Equity (Planned Year 2 prepayment)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£900,000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Professional fees, CQC, branding &amp; recruitment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£79,867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Trading Cash Flow (Funds Year 2 phased equipment)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£65,000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Working Capital Reserve (6-month liquidity buffer)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Contingency (Unforeseen capital buffer)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£60,000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TOTAL DAY-ONE CAPITAL REQUIREMENT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£1,199,461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TOTAL AVAILABLE FUNDING &amp; RESERVES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£2,365,000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HEADROOM UNDER £1.2M CEILING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£539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SENIOR DEBT DRAW AT CLOSING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£1,199,461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3492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OFF-BALANCE SHEET OPERATING ASSETS: (1) Alcon WaveLight Refractive Laser Suite (FS200 + EX500 + Sightmap) leased at £9,276.73/mo x 60 months (£556K total operating cost, no CapEx). (2) ZEISS phaco, lenses and consumables paid per procedure. (3) 15-year building lease at £47K/yr with 15 months rent-free and Year 8 tenant break.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Synergy by EyePros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The high-converting optometrist referral engine powering 60% of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The 7-Step Shared-Care Referral Pathway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1. Optometrist Identifies Patient: Practice detects cataract, glaucoma, dry eye or refractive need.</a:t>
            </a:r>
            <a:br/>
            <a:br/>
            <a:r>
              <a:t>2. 1-Click Digital Referral: Optom sends referral via Syndesis portal (GOS18 &amp; DICOM integration).</a:t>
            </a:r>
            <a:br/>
            <a:br/>
            <a:r>
              <a:t>3. Rapid Acknowledgement: EyePros clinical coordination team acknowledges within 24 hours.</a:t>
            </a:r>
            <a:br/>
            <a:br/>
            <a:r>
              <a:t>4. Named Consultant Surgery: Patient sees their named consultant surgeon at Kingfisher House.</a:t>
            </a:r>
            <a:br/>
            <a:br/>
            <a:r>
              <a:t>5. 48-Hour Discharge Report: Comprehensive surgical summary transmitted back to referring optom.</a:t>
            </a:r>
            <a:br/>
            <a:br/>
            <a:r>
              <a:t>6. 4-Week Post-Op Shared Care Review: Optometrist performs post-op check and receives £45–£60 fee.</a:t>
            </a:r>
            <a:br/>
            <a:br/>
            <a:r>
              <a:t>7. Patient Returned for Lifelong Care: Optometrist retains annual sight test &amp; spectacle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Catchment Optical Network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450 PRACTICES IN PRIMARY CATCHMENT:</a:t>
            </a:r>
            <a:br/>
            <a:br/>
            <a:r>
              <a:t>• Nottinghamshire: 154 practices (immediate priority)</a:t>
            </a:r>
            <a:br/>
            <a:r>
              <a:t>• Leicestershire: 186 practices</a:t>
            </a:r>
            <a:br/>
            <a:r>
              <a:t>• Derbyshire: 110 practices</a:t>
            </a:r>
            <a:br/>
            <a:br/>
            <a:r>
              <a:t>COMMERCIAL MILESTONES:</a:t>
            </a:r>
            <a:br/>
            <a:r>
              <a:t>• Target: Sign 4 practices per month, ramping to 6/month.</a:t>
            </a:r>
            <a:br/>
            <a:r>
              <a:t>• 20 active referring practices in Year 1, growing to 45+ by Year 3.</a:t>
            </a:r>
            <a:br/>
            <a:r>
              <a:t>• High-touch liaison: accredited CPD evenings, direct WhatsApp consultant hotline, and co-branded patient leaflets.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Launch Phases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Disciplined 4-stage operational and clinical delivery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Month 0–1</a:t>
            </a:r>
            <a:br/>
            <a:r>
              <a:t>MOBILISE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Finalise 15-yr lease heads of terms</a:t>
            </a:r>
            <a:br/>
            <a:r>
              <a:t>• Vector Finance facility drawdown 1</a:t>
            </a:r>
            <a:br/>
            <a:r>
              <a:t>• Issue competitive fit-out tender</a:t>
            </a:r>
            <a:br/>
            <a:r>
              <a:t>• Confirm QS Plan B contract (£752K)</a:t>
            </a:r>
            <a:br/>
            <a:r>
              <a:t>• Pre-commitment spend: ~£30K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Month 1–6</a:t>
            </a:r>
            <a:br/>
            <a:r>
              <a:t>BUILD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Fit-out on site (14–16 weeks)</a:t>
            </a:r>
            <a:br/>
            <a:r>
              <a:t>• Submit CQC registration application (M3)</a:t>
            </a:r>
            <a:br/>
            <a:r>
              <a:t>• Install ZEISS diagnostics &amp; phaco (M5)</a:t>
            </a:r>
            <a:br/>
            <a:r>
              <a:t>• Deliver Alcon WaveLight suite (M6)</a:t>
            </a:r>
            <a:br/>
            <a:r>
              <a:t>• Surgery continues at The Park Hospital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Month 6–7</a:t>
            </a:r>
            <a:br/>
            <a:r>
              <a:t>COMMISSION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HTM 03-01 ventilation validation</a:t>
            </a:r>
            <a:br/>
            <a:r>
              <a:t>• Ultra-clean theatre commissioning</a:t>
            </a:r>
            <a:br/>
            <a:r>
              <a:t>• Secure CQC registration decision</a:t>
            </a:r>
            <a:br/>
            <a:r>
              <a:t>• Hospital Manager &amp; core team in post</a:t>
            </a:r>
            <a:br/>
            <a:r>
              <a:t>• PracticePartners units issued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Month 7–12</a:t>
            </a:r>
            <a:br/>
            <a:r>
              <a:t>GO LIVE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Kingfisher House theatre opens</a:t>
            </a:r>
            <a:br/>
            <a:r>
              <a:t>• Laser suite &amp; EyeSpa operational</a:t>
            </a:r>
            <a:br/>
            <a:r>
              <a:t>• Park Hospital surgery tapers to in-house</a:t>
            </a:r>
            <a:br/>
            <a:r>
              <a:t>• VisioNOW &amp; oculoplastics launch</a:t>
            </a:r>
            <a:br/>
            <a:r>
              <a:t>• Ramp to full commercial capacity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Kingfisher House Nottingham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19 Abbeyfield Road, Nottingham NG7 2SZ — Purpose-built surgical destination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Facility &amp; Property Specifications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Location: 19 Abbeyfield Road, Nottingham NG7 2SZ (prime ring-road accessibility).</a:t>
            </a:r>
            <a:br/>
            <a:r>
              <a:t>• Size: 323 m² (3,477 sq ft) detached commercial building.</a:t>
            </a:r>
            <a:br/>
            <a:r>
              <a:t>• Parking: 16 dedicated on-site patient and consultant spaces.</a:t>
            </a:r>
            <a:br/>
            <a:r>
              <a:t>• Planning: Class E(e) medical use (no change-of-use application required).</a:t>
            </a:r>
            <a:br/>
            <a:r>
              <a:t>• Lease Terms: 15-year lease, 15-month rent-free incentive, tenant break at Year 8.</a:t>
            </a:r>
            <a:br/>
            <a:r>
              <a:t>• Annual Rent: £47,000 per year (business rates £17,881; rateable value £32,750).</a:t>
            </a:r>
            <a:br/>
            <a:br/>
            <a:r>
              <a:t>STRATEGIC ADVANTAGE:</a:t>
            </a:r>
            <a:br/>
            <a:r>
              <a:t>Standalone private entrance guarantees privacy and boutique prestige, completely avoiding impersonal NHS hospital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Clinical Capabilities &amp; Capacity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CLINICAL SUITES:</a:t>
            </a:r>
            <a:br/>
            <a:r>
              <a:t>• Ophthalmic theatre with ultra-clean laminar flow ventilation (HTM 03-01).</a:t>
            </a:r>
            <a:br/>
            <a:r>
              <a:t>• Dedicated Laser Vision Suite (Alcon WaveLight FS200 &amp; EX500).</a:t>
            </a:r>
            <a:br/>
            <a:r>
              <a:t>• 3 Consulting &amp; diagnostic rooms (ZEISS OCT, biometry, topography).</a:t>
            </a:r>
            <a:br/>
            <a:r>
              <a:t>• EyeSpa dedicated dry eye treatment suite (C-Suite IPL &amp; LipiFlow).</a:t>
            </a:r>
            <a:br/>
            <a:r>
              <a:t>• Pre-op lounge and luxury recovery suites.</a:t>
            </a:r>
            <a:br/>
            <a:br/>
            <a:r>
              <a:t>OPERATING CAPACITY:</a:t>
            </a:r>
            <a:br/>
            <a:r>
              <a:t>• 16 eyes/day x 5 days/week = 80 eyes/week capacity.</a:t>
            </a:r>
            <a:br/>
            <a:r>
              <a:t>• Year 3 forecast (645 cataracts + 42 lasers + 24 oculoplastics) utilizes only ~18% of theoretical capacity, leaving massive expansion headroom.</a:t>
            </a:r>
            <a:br/>
            <a:r>
              <a:t>• Catchment: 2.2 million residents within a 30–45 minute drive.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5-Year Revenue Trajectory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Predictable growth from construction transition to multi-million operating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£857K – £931K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1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Construction year. Park Hospital surgery continues while Kingfisher House builds out. Positive cash £31K.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2057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£1.75M – £2.28M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2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Kingfisher House fully operational. In-house cost savings trigger EBITDA surge to £1.15M (50% margin).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57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£2.44M – £3.00M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3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Steady-state commercial scale. Laser vision correction and PracticePartners fully ramped. £1.79M EBITDA.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2057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£2.82M – £3.37M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4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Mature operations. High cash flow generation (£1.0M+ FCF). Surgeon Access Scheme expanding.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645920"/>
            <a:ext cx="2057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2000" b="1">
                <a:solidFill>
                  <a:srgbClr val="1F3F39"/>
                </a:solidFill>
                <a:latin typeface="Arial"/>
              </a:defRPr>
            </a:pPr>
            <a:r>
              <a:t>£3.09M – £3.69M</a:t>
            </a:r>
          </a:p>
          <a:p>
            <a:pPr algn="ctr">
              <a:spcBef>
                <a:spcPts val="300"/>
              </a:spcBef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5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Peak efficiency. Cumulative cash reserves reach £3.5M+. Foundation ready for regional second 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FINANCIAL HIGHLIGHTS: EBITDA margin expands from 16.2%–22.8% in Year 1 to 59.6%–63.8% in steady state. Cumulative free cash flow reaches £3.5M+ by Year 5. Payback period is achieved in approximately 2.2 years after tax.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15-Year Strategic Roadmap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Long-term institutional value creation: from local pioneer to national brand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1–2</a:t>
            </a:r>
            <a:br/>
            <a:r>
              <a:t>ESTABLISH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£857K → £2.28M</a:t>
            </a:r>
            <a:br/>
            <a:br/>
            <a:r>
              <a:t>• Launch Kingfisher House</a:t>
            </a:r>
            <a:br/>
            <a:r>
              <a:t>• CQC &amp; PMI accreditation</a:t>
            </a:r>
            <a:br/>
            <a:r>
              <a:t>• Build to 30+ optom referrers</a:t>
            </a:r>
            <a:br/>
            <a:r>
              <a:t>• Achieve operating breakeven (M18)</a:t>
            </a:r>
            <a:br/>
            <a:r>
              <a:t>• Establish boutique market reputation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3–5</a:t>
            </a:r>
            <a:br/>
            <a:r>
              <a:t>GROW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£2.44M → £3.69M</a:t>
            </a:r>
            <a:br/>
            <a:br/>
            <a:r>
              <a:t>• Full WaveLight laser suite running</a:t>
            </a:r>
            <a:br/>
            <a:r>
              <a:t>• PracticePartners 20-unit programme</a:t>
            </a:r>
            <a:br/>
            <a:r>
              <a:t>• EyeSpa standalone wellness expansion</a:t>
            </a:r>
            <a:br/>
            <a:r>
              <a:t>• Cumulative cash flow £3.5M+</a:t>
            </a:r>
            <a:br/>
            <a:r>
              <a:t>• Self-fund secondary clinic equity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6–10</a:t>
            </a:r>
            <a:br/>
            <a:r>
              <a:t>EXPAND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£8M → £20M</a:t>
            </a:r>
            <a:br/>
            <a:br/>
            <a:r>
              <a:t>• 3–5 clinics across Midlands (Leicester, Derby, Birmingham)</a:t>
            </a:r>
            <a:br/>
            <a:r>
              <a:t>• Centralised administrative hub</a:t>
            </a:r>
            <a:br/>
            <a:r>
              <a:t>• EyePros Clinical Training Academy</a:t>
            </a:r>
            <a:br/>
            <a:r>
              <a:t>• Midlands' undisputed leader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Year 11–15</a:t>
            </a:r>
            <a:br/>
            <a:r>
              <a:t>SCALE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£20M → £50M+</a:t>
            </a:r>
            <a:br/>
            <a:br/>
            <a:r>
              <a:t>• 8–12 surgical clinics nationally</a:t>
            </a:r>
            <a:br/>
            <a:r>
              <a:t>• Institutional Private Equity or IPO</a:t>
            </a:r>
            <a:br/>
            <a:r>
              <a:t>• Proprietary AI diagnostic platform</a:t>
            </a:r>
            <a:br/>
            <a:r>
              <a:t>• National benchmark in eye surgery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15-Year Milestones Matrix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Projected operational evolution, regional footprint, and strategic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822960"/>
                <a:gridCol w="4937760"/>
                <a:gridCol w="1828800"/>
              </a:tblGrid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/ Year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Clinical &amp; Infrastructure Milestone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Strategic Focus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£857K – £931K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Kingfisher House fit-out &amp; launch. CQC registration. Taper from Park Hospital.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Establish 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£1.75M – £2.28M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in-house operations. VisioNOW and oculoplastics launched. Prepayment ready.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Optimise Flow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£2.44M – £3.00M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operating capacity reached. Dedicated WaveLight laser suite mature.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Diversify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4–5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£2.8M – £3.7M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Launch 2nd site (Leicester / Derby hub). PracticePartners programme expanded.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Regional Expansion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6–7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£8M – £12M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3rd surgical hospital. Centralised scheduling, billing, and back-office operations.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Market Dominance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8–10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£12M – £20M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4–5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Undisputed Midlands market leader. EyePros Clinical Fellowship Training Academy.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Clinical Leadership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11–12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£20M – £30M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6–8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Expand beyond Midlands into South East and North West. Institutional PE funding.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National Footprint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13–15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£30M – £50M+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8–12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National healthcare brand. Automated AI diagnostic review network across clinics.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Scale &amp; Liquidity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How We Measure Success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Key performance indicators across clinical conversion, growth, and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4846320"/>
              </a:tblGrid>
              <a:tr h="3990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Performance Indicator (KPI)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Stretch Target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Strategic Objective &amp; Revenue Impact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New practices signed to shared-care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4 per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6 per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Builds long-term referring optometrist foundation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Active referring optical practices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20 ongoing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35 ongoing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Ensures consistent, recurring monthly patient volume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Cataract surgery conversions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25 per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40 per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Core procedure volume driving operating theatre utilization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Glaucoma / MIGS surgical conversions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8 per month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14 per month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High-margin procedure preserving long-term eye health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Laser vision correction (LVC) cases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4 per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8 per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self-pay cash revenue from WaveLight laser 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Initial consultation to surgery conversion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35% – 40%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48%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Reflects clinical trust and unhurried consultation quality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New private consultations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16 per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24 per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Top-of-funnel diagnostic and surgical pipeline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New EyeSpa dry eye treatment courses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3 per week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6 per week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Outpatient cash flow + pre-op biometry optimization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Patient satisfaction (Net Promoter Score)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Generates organic word-of-mouth and 5-star online reviews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Post-op report transmitted to optometrist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Within 48 hours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Within 24 hours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Deepens optometrist loyalty and clinical shared-care trust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Compliance &amp; Accreditation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Stringent clinical governance, statutory health standards, and insurer approvals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CQC Registration  [Target: Month 3–6]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Regulated activities: Treatment of Disease, Disorder or Injury (TDDI), Surgical Procedures, and Diagnostic &amp; Screening Procedures. Full-time Hospital Manager appointed as registered manager.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035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Theatre Ventilation (HTM 03-01)  [Specialist Standard]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≥ 25 air changes per hour (ACH), G4 + F7 filtration cascade, +5 Pa positive pressure differential. Independent third-party engineering validation gated prior to opening.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27248"/>
            <a:ext cx="53035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Medical Gas Pipeline (HTM 02-01)  [Hospital Standard]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MGPS with active Anaesthetic Gas Scavenging System (AGSS) supporting local anaesthetic and sedation lists to NHS hospital trust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27248"/>
            <a:ext cx="53035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Private Medical Insurer (PMI)  [Active &amp; Validated]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Direct settlement recognition active with Bupa, AXA Health, Aviva, Vitality, and WPA. Facility re-accreditation application submitted for Kingfisher House.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08576"/>
            <a:ext cx="53035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PHIN &amp; CMA Compliance  [Mandatory Reporting]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Full compliance with the Competition and Markets Authority (CMA) Private Healthcare Market Investigation Order for clinical outcomes and fee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608576"/>
            <a:ext cx="53035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GMC Professional Governance  [Active Specialist Register]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Both consultant directors hold active GMC Specialist Registration, annual clinical appraisals, and continuous medical revalidation.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Key Risks &amp; Mitigation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Comprehensive risk register and five-layer financial and operational protection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731520"/>
                <a:gridCol w="914400"/>
                <a:gridCol w="5212080"/>
              </a:tblGrid>
              <a:tr h="43891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Description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(L)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(I)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(LxI)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 Strategy &amp; Built-in Protection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PracticePartners regulatory 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Written legal advice before any unit is offered. Senior debt is 4.9x covered without 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PracticePartners raise late / short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Reserves bridge Year 1. Prepayment is optional; loan is fully serviceable from cash flow.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Fit-out costs exceed £752K 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Fixed-price contract under QS Plan B. £60K contingency + £200K director reserve.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CQC registration or review delay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Apply 16 weeks ahead via specialist consultant. Park Hospital surgery continues.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Day-one spend exceeds £1.2M ceiling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£65,000 of equipment phased to Year 2 cash flow. Headroom of £539 maintained.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1 cover shortfall (0.77x)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6-mo interest-only. £380K protection stack (working capital + contingency + standby).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Dependence on two consultant surgeons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PracticePartners panel of independent surgeons + locum panel. Broad clinical capacity.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ZEISS Annual Minimum Value shortfall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Forecast volume easily clears minimum threshold in every year. Six-monthly reviews.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Senior facility interest rate 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Stress-tested at 11.5% (+2%). Year 1 cover remains safe at 1.06x; Year 3 cover at 4.40x.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What Happens Next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Execution roadmap: from completed research to commercial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Phase 1: RESEARCH</a:t>
            </a:r>
            <a:br/>
            <a:r>
              <a:t>[COMPLETED]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✔ Verified TAM/SAM/SOM market analysis</a:t>
            </a:r>
            <a:br/>
            <a:r>
              <a:t>✔ Competitor pricing and clinical benchmarking</a:t>
            </a:r>
            <a:br/>
            <a:r>
              <a:t>✔ Detailed 9-box Business Model Canvas</a:t>
            </a:r>
            <a:br/>
            <a:r>
              <a:t>✔ Independent QS Plan B fit-out cost model</a:t>
            </a:r>
            <a:br/>
            <a:r>
              <a:t>✔ Corrected 5-Year P&amp;L Financial Model</a:t>
            </a:r>
            <a:br/>
            <a:r>
              <a:t>✔ Complete investment deck and feasibility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Phase 2: FINANCIALS</a:t>
            </a:r>
            <a:br/>
            <a:r>
              <a:t>[IN PROGRESS]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Finalise £1.2M senior loan term sheet</a:t>
            </a:r>
            <a:br/>
            <a:r>
              <a:t>• 15-year lease execution (heads of terms agreed)</a:t>
            </a:r>
            <a:br/>
            <a:r>
              <a:t>• Legal sign-off on PracticePartners structure</a:t>
            </a:r>
            <a:br/>
            <a:r>
              <a:t>• Architect final engineering drawings</a:t>
            </a:r>
            <a:br/>
            <a:r>
              <a:t>• Landlord license for alterations agreed</a:t>
            </a:r>
            <a:br/>
            <a:r>
              <a:t>• Equipment contracts with ZEISS and Alcon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Phase 3: REGULATORY</a:t>
            </a:r>
            <a:br/>
            <a:r>
              <a:t>[MONTHS 1–6]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CQC registration submission (Month 3)</a:t>
            </a:r>
            <a:br/>
            <a:r>
              <a:t>• On-site fit-out execution (14–16 weeks)</a:t>
            </a:r>
            <a:br/>
            <a:r>
              <a:t>• HTM 03-01 ultra-clean ventilation validation</a:t>
            </a:r>
            <a:br/>
            <a:r>
              <a:t>• Medical equipment delivery and calibration</a:t>
            </a:r>
            <a:br/>
            <a:r>
              <a:t>• Recruitment of Hospital Manager and theatre team</a:t>
            </a:r>
            <a:br/>
            <a:r>
              <a:t>• Theatre clinical commissioning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Phase 4: LAUNCH</a:t>
            </a:r>
            <a:br/>
            <a:r>
              <a:t>[MONTH 7+]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Kingfisher House grand opening</a:t>
            </a:r>
            <a:br/>
            <a:r>
              <a:t>• In-house cataract and laser surgery go-live</a:t>
            </a:r>
            <a:br/>
            <a:r>
              <a:t>• Taper caseload from The Park Hospital</a:t>
            </a:r>
            <a:br/>
            <a:r>
              <a:t>• Launch regional B2B marketing campaign</a:t>
            </a:r>
            <a:br/>
            <a:r>
              <a:t>• Scale referring optometrists to 30+ practices</a:t>
            </a:r>
            <a:br/>
            <a:r>
              <a:t>• Execute Year 2 PracticePartners prepayment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Two Options on the Table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Strategic capital appraisal: senior debt leverage vs. consultant equity partnership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OPTION A: Vector Finance Senior Debt (Recommended)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STRUCTURE: £1,200,000 loan • 84 months • 9.5% APR indicative • 6-mo interest-only</a:t>
            </a:r>
            <a:br/>
            <a:br/>
            <a:r>
              <a:t>ADVANTAGES:</a:t>
            </a:r>
            <a:br/>
            <a:r>
              <a:t>✔ Founders retain 100% equity ownership and full strategic control.</a:t>
            </a:r>
            <a:br/>
            <a:r>
              <a:t>✔ Fast execution through existing banking and commercial finance relationship.</a:t>
            </a:r>
            <a:br/>
            <a:r>
              <a:t>✔ Predictable repayment schedule (£20,679/mo) easily covered by trading cash flow.</a:t>
            </a:r>
            <a:br/>
            <a:r>
              <a:t>✔ Facility is completely extinguished by Year 7 (or Year 2 with prepayment).</a:t>
            </a:r>
            <a:br/>
            <a:br/>
            <a:r>
              <a:t>CONSIDERATIONS:</a:t>
            </a:r>
            <a:br/>
            <a:r>
              <a:t>• Fixed debt service obligation (£248K/yr in Years 2–5).</a:t>
            </a:r>
            <a:br/>
            <a:r>
              <a:t>• Director subordinated reserve (£200K) standing behind the plan.</a:t>
            </a:r>
            <a:br/>
            <a:br/>
            <a:r>
              <a:t>BOTTOM LINE: Retains 100% of a company generating £3.5M+ cumulative cash.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OPTION B: Consultant Equity Partnership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STRUCTURE: Sell minority equity shares to visiting ophthalmic surgeons</a:t>
            </a:r>
            <a:br/>
            <a:br/>
            <a:r>
              <a:t>ADVANTAGES:</a:t>
            </a:r>
            <a:br/>
            <a:r>
              <a:t>✔ Zero monthly debt repayment obligations during early trading ramp.</a:t>
            </a:r>
            <a:br/>
            <a:r>
              <a:t>✔ Participating consultant investors bring established local surgical caseloads.</a:t>
            </a:r>
            <a:br/>
            <a:r>
              <a:t>✔ Aligned professional interests in driving clinic theatre utilization.</a:t>
            </a:r>
            <a:br/>
            <a:br/>
            <a:r>
              <a:t>CONSIDERATIONS:</a:t>
            </a:r>
            <a:br/>
            <a:r>
              <a:t>❌ Permanent equity dilution: founders surrender permanent ownership and dividends.</a:t>
            </a:r>
            <a:br/>
            <a:r>
              <a:t>❌ Complex clinical governance: conflicting medical partner opinions on investments.</a:t>
            </a:r>
            <a:br/>
            <a:r>
              <a:t>❌ Slower execution: lengthy negotiations over shareholder agreements and exits.</a:t>
            </a:r>
            <a:br/>
            <a:br/>
            <a:r>
              <a:t>BOTTOM LINE: PracticePartners hybrid gives equity prepay without operational control.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We Already Have Patients. Now We Need to Scale.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Summary of existing commercial traction and transformational in-house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What We Have Already Proven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✔ £230,309 FY2026 actual revenue operating at a 94.9% gross margin.</a:t>
            </a:r>
            <a:br/>
            <a:br/>
            <a:r>
              <a:t>✔ ~3–5 cataract and lens replacement eyes operating weekly at The Park Hospital.</a:t>
            </a:r>
            <a:br/>
            <a:br/>
            <a:r>
              <a:t>✔ £156K direct surgical income generated from existing caseload alone.</a:t>
            </a:r>
            <a:br/>
            <a:br/>
            <a:r>
              <a:t>✔ 5-star clinical outcomes and active B2B referral relationships with local optometrists.</a:t>
            </a:r>
            <a:br/>
            <a:br/>
            <a:r>
              <a:t>✔ Full accreditation with major private insurers (Bupa, AXA, Aviva, Vitality, WPA).</a:t>
            </a:r>
            <a:br/>
            <a:br/>
            <a:r>
              <a:t>✔ In-house transition saves ~£1,575 per eye on day one, multiplying bottom-line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The Scale Trajectory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REVENUE PROGRESSION:</a:t>
            </a:r>
            <a:br/>
            <a:r>
              <a:t>• Year 1: £857K – £931K (Construction year; positive cash £31K)</a:t>
            </a:r>
            <a:br/>
            <a:r>
              <a:t>• Year 2: £1.75M – £2.28M (In-house launch; EBITDA surges to £1.15M)</a:t>
            </a:r>
            <a:br/>
            <a:r>
              <a:t>• Year 3: £2.44M – £3.00M (Mature scale; EBITDA £1.79M @ 59.6% margin)</a:t>
            </a:r>
            <a:br/>
            <a:r>
              <a:t>• Year 5: £3.09M – £3.69M (£2.35M EBITDA; £3.5M+ cumulative cash)</a:t>
            </a:r>
            <a:br/>
            <a:br/>
            <a:r>
              <a:t>INVESTMENT HIGHLIGHTS:</a:t>
            </a:r>
            <a:br/>
            <a:r>
              <a:t>• Payback period: ~2.2 years after tax.</a:t>
            </a:r>
            <a:br/>
            <a:r>
              <a:t>• Project IRR: Over 60% across 5 years.</a:t>
            </a:r>
            <a:br/>
            <a:r>
              <a:t>• 15-year lease secured with 15 months rent-free and Year 8 break.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Case Study: Funding EyePros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Logical appraisal decision tree leading to senior debt financing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291840"/>
                <a:gridCol w="3291840"/>
              </a:tblGrid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 Stage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Strategic Question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&amp; Fact Base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Optimal Strategic Decision</a:t>
                      </a:r>
                    </a:p>
                  </a:txBody>
                  <a:tcPr anchor="ctr">
                    <a:solidFill>
                      <a:srgbClr val="1F3F3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Stage 1: Self-Funding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Can the founders self-fund £1.2M?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Founders have £200K standby cash committed, not £1.2M.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Must secure external facility.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Stage 2: Capital Type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Borrow debt or sell equity shares?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Equity permanently dilutes profits; debt leaves 100% control.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Explore debt financing.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Stage 3: Affordability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Can trading cash flow service debt?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Year 2 EBITDA of £1.15M covers debt service (£235K) 4.9 times.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Debt is highly affordable.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Stage 4: Security &amp; Assets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Are there tangible assets to secure loan?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Building fit-out (£752K) + equipment creates £1.1M+ in assets.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Meets commercial security.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Stage 5: Equity Partnership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Do we want consultant investors?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PracticePartners offers £900K prepay without operational dilution.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Hybrid model: Debt + Prepay.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FINAL OUTCOME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Which funding route maximises value?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Vector Finance £1.2M facility preserves 100% founder ownership of a £3.5M+ cash business.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PROCEED WITH SENIOR DEBT</a:t>
                      </a:r>
                    </a:p>
                  </a:txBody>
                  <a:tcPr anchor="ctr"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Sources &amp; References</a:t>
            </a:r>
          </a:p>
          <a:p>
            <a:pPr>
              <a:spcBef>
                <a:spcPts val="300"/>
              </a:spcBef>
              <a:defRPr sz="1150">
                <a:solidFill>
                  <a:srgbClr val="C8E1DC"/>
                </a:solidFill>
                <a:latin typeface="Arial"/>
              </a:defRPr>
            </a:pPr>
            <a:r>
              <a:t>Authoritative evidence base backing all clinical, financial and market assertions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84048"/>
            <a:ext cx="1188720" cy="347472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2CD"/>
                </a:solidFill>
              </a:defRPr>
            </a:pPr>
            <a:r>
              <a:t>www.eyepros.co.uk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EYEPROS INTERNAL &amp; VERIFIED DOCUMENTS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Feasibility Study &amp; Funding Proposal: Kingfisher House (Sept 2026)</a:t>
            </a:r>
            <a:br/>
            <a:r>
              <a:t>• Corrected Financial Model: EyePros_PnL_Financial_Model_corrected.xlsx</a:t>
            </a:r>
            <a:br/>
            <a:r>
              <a:t>• Statutory Company Accounts: Companies House 07909477 (FY2026, filed)</a:t>
            </a:r>
            <a:br/>
            <a:r>
              <a:t>• Fit-Out Cost Plan: QS Value Engineering Report (Plan B, £752,630 incl VAT)</a:t>
            </a:r>
            <a:br/>
            <a:r>
              <a:t>• ZEISS Equipment Agreement: Supplier Equipment Agreement V4.9 (2026)</a:t>
            </a:r>
            <a:br/>
            <a:r>
              <a:t>• Alcon Laser Lease Quotation: Alcon Quotation Q-312056 (3 July 2026)</a:t>
            </a:r>
            <a:br/>
            <a:r>
              <a:t>• Property Heads of Terms: FHP Property Consultants (15-yr lease, 15-mo rent free)</a:t>
            </a:r>
            <a:br/>
            <a:r>
              <a:t>• Confirmed Price List: EyePros Confirmed Price Schedule (2 Sept 2026)</a:t>
            </a:r>
            <a:br/>
            <a:r>
              <a:t>• Staffing Model: EyePros Staffing Plan (8 roles, £283K run-rate payroll)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150" b="1">
                <a:solidFill>
                  <a:srgbClr val="1E293B"/>
                </a:solidFill>
                <a:latin typeface="Arial"/>
              </a:defRPr>
            </a:pPr>
            <a:r>
              <a:t>EXTERNAL &amp; PUBLIC STATISTICAL SOURCES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Arial"/>
              </a:defRPr>
            </a:pPr>
            <a:r>
              <a:t>• Competitor Companies House Filings: Optical Express (£146.5M), Optegra (£99.8M)</a:t>
            </a:r>
            <a:br/>
            <a:r>
              <a:t>• Competitor Pricing Intelligence: Spire (£3,405), Nuffield (£3,450), Optical Express (£2,500)</a:t>
            </a:r>
            <a:br/>
            <a:r>
              <a:t>• NHS Waiting List Statistics: NHS England Referral-to-Treatment (RTT, Oct 2026)</a:t>
            </a:r>
            <a:br/>
            <a:r>
              <a:t>• NHS National Tariff System: 2025/26 NHS National Tariff Payment Guidelines</a:t>
            </a:r>
            <a:br/>
            <a:r>
              <a:t>• Private Healthcare Intelligence: LaingBuisson UK Healthcare Market Review</a:t>
            </a:r>
            <a:br/>
            <a:r>
              <a:t>• Demographic &amp; Age Data: ONS Mid-Year Population Estimates (Midlands 16.4%)</a:t>
            </a:r>
            <a:br/>
            <a:r>
              <a:t>• Clinical Guidelines: NICE NG81 (Glaucoma), TA155 (Anti-VEGF in Retina)</a:t>
            </a:r>
            <a:br/>
            <a:r>
              <a:t>• Dry Eye Clinical Data: TFOS DEWS II Global Dry Eye Workshop Reports</a:t>
            </a:r>
            <a:br/>
            <a:r>
              <a:t>• Banking Benchmarks: UK Commercial Finance Guidance (Allica Bank, Shawbrook)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>
              <a:spcBef>
                <a:spcPts val="1200"/>
              </a:spcBef>
              <a:defRPr sz="2000">
                <a:solidFill>
                  <a:srgbClr val="D2EBE6"/>
                </a:solidFill>
                <a:latin typeface="Arial"/>
              </a:defRPr>
            </a:pPr>
            <a:r>
              <a:t>EyePros — Back in Focus Consultant-Led Private Eye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6858000" cy="1280160"/>
          </a:xfrm>
          <a:prstGeom prst="roundRect">
            <a:avLst/>
          </a:prstGeom>
          <a:solidFill>
            <a:srgbClr val="1F3F39"/>
          </a:solidFill>
          <a:ln>
            <a:solidFill>
              <a:srgbClr val="5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Presented by: Takoua Selmi — Growth &amp; Business Developer</a:t>
            </a:r>
          </a:p>
          <a:p>
            <a:pPr>
              <a:spcBef>
                <a:spcPts val="400"/>
              </a:spcBef>
              <a:defRPr sz="1100">
                <a:solidFill>
                  <a:srgbClr val="C8E1DC"/>
                </a:solidFill>
              </a:defRPr>
            </a:pPr>
            <a:r>
              <a:t>Kingfisher House, 19 Abbeyfield Road, Nottingham NG7 2SZ</a:t>
            </a:r>
          </a:p>
          <a:p>
            <a:pPr>
              <a:spcBef>
                <a:spcPts val="400"/>
              </a:spcBef>
              <a:defRPr sz="1100">
                <a:solidFill>
                  <a:srgbClr val="B8975A"/>
                </a:solidFill>
              </a:defRPr>
            </a:pPr>
            <a:r>
              <a:t>Website: www.eyepros.co.uk  •  Email: contact@eyepros.co.uk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